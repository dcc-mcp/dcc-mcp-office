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png" ContentType="image/png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be6ff31b13314193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96a336df9deb4926"/>
  </p:sldMasterIdLst>
  <p:sldIdLst>
    <p:sldId id="256" r:id="Rd5a7c6cdbdae4151"/>
    <p:sldId id="257" r:id="R6599730101fd447d"/>
    <p:sldId id="258" r:id="Rf6388c4ff4a14af6"/>
    <p:sldId id="259" r:id="R262311616b7d4f39"/>
    <p:sldId id="260" r:id="R3c6bc882cd0243e6"/>
    <p:sldId id="261" r:id="R7994b711dce04583"/>
    <p:sldId id="262" r:id="R39ef43e69be94dd0"/>
  </p:sldIdLst>
  <p:sldSz cx="12191695" cy="6858000" type="screen16x9"/>
  <p:notesSz cx="7772400" cy="10058400"/>
  <p:defaultTextStyle>
    <a:lvl1pPr>
      <a:defRPr sz="1800"/>
    </a:lvl1pPr>
    <a:lvl2pPr>
      <a:defRPr sz="1800"/>
    </a:lvl2pPr>
    <a:lvl3pPr>
      <a:defRPr sz="1800"/>
    </a:lvl3pPr>
    <a:lvl4pPr>
      <a:defRPr sz="1800"/>
    </a:lvl4pPr>
    <a:lvl5pPr>
      <a:defRPr sz="1800"/>
    </a:lvl5pPr>
    <a:lvl6pPr>
      <a:defRPr sz="1800"/>
    </a:lvl6pPr>
    <a:lvl7pPr>
      <a:defRPr sz="1800"/>
    </a:lvl7pPr>
    <a:lvl8pPr>
      <a:defRPr sz="1800"/>
    </a:lvl8pPr>
    <a:lvl9pPr>
      <a:defRPr sz="1800"/>
    </a:lvl9pPr>
  </p:defaultTextStyle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slideMasters/slideMaster1.xml" Id="R96a336df9deb4926" /><Relationship Type="http://schemas.openxmlformats.org/officeDocument/2006/relationships/slide" Target="slides/slide1.xml" Id="Rd5a7c6cdbdae4151" /><Relationship Type="http://schemas.openxmlformats.org/officeDocument/2006/relationships/slide" Target="slides/slide2.xml" Id="R6599730101fd447d" /><Relationship Type="http://schemas.openxmlformats.org/officeDocument/2006/relationships/slide" Target="slides/slide3.xml" Id="Rf6388c4ff4a14af6" /><Relationship Type="http://schemas.openxmlformats.org/officeDocument/2006/relationships/slide" Target="slides/slide4.xml" Id="R262311616b7d4f39" /><Relationship Type="http://schemas.openxmlformats.org/officeDocument/2006/relationships/slide" Target="slides/slide5.xml" Id="R3c6bc882cd0243e6" /><Relationship Type="http://schemas.openxmlformats.org/officeDocument/2006/relationships/slide" Target="slides/slide6.xml" Id="R7994b711dce04583" /><Relationship Type="http://schemas.openxmlformats.org/officeDocument/2006/relationships/slide" Target="slides/slide7.xml" Id="R39ef43e69be94d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../theme/theme1.xml" Id="Rc11f776698514882" 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../notesMasters/notesMaster1.xml" Id="R9bc596420d4e48ac" /><Relationship Type="http://schemas.openxmlformats.org/officeDocument/2006/relationships/slide" Target="../slides/slide1.xml" Id="Rbbf59bc761b944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../notesMasters/notesMaster1.xml" Id="R3433aa6daa9d40c0" /><Relationship Type="http://schemas.openxmlformats.org/officeDocument/2006/relationships/slide" Target="../slides/slide2.xml" Id="Ra6ed12f5e51d486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../notesMasters/notesMaster1.xml" Id="R26dd8bf11ab54ba9" /><Relationship Type="http://schemas.openxmlformats.org/officeDocument/2006/relationships/slide" Target="../slides/slide3.xml" Id="Rce393f3f38e0454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../notesMasters/notesMaster1.xml" Id="R8a6b82d97b884155" /><Relationship Type="http://schemas.openxmlformats.org/officeDocument/2006/relationships/slide" Target="../slides/slide4.xml" Id="R2b3282d5dd97426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../notesMasters/notesMaster1.xml" Id="Rb10b460b95474177" /><Relationship Type="http://schemas.openxmlformats.org/officeDocument/2006/relationships/slide" Target="../slides/slide5.xml" Id="R47a6853fc3984b4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../notesMasters/notesMaster1.xml" Id="R4f0c2c7933ae4f60" /><Relationship Type="http://schemas.openxmlformats.org/officeDocument/2006/relationships/slide" Target="../slides/slide6.xml" Id="R964085676774487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../notesMasters/notesMaster1.xml" Id="R0fc6d1a6fe364203" /><Relationship Type="http://schemas.openxmlformats.org/officeDocument/2006/relationships/slide" Target="../slides/slide7.xml" Id="R2f78aa16687b4e31" 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template-first overview of the shipped shared Office 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Counts come from the live capability handshake captured with this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Raw COM members remain behind the task-level capability boundary.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compiler never claims to be the final renderer.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stage returns structured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supplies a visible marker for the global replace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../slideMasters/slideMaster1.xml" Id="R16fada43fd774473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../slideLayouts/slideLayout1.xml" Id="Rd1d1e521af074987" /><Relationship Type="http://schemas.openxmlformats.org/officeDocument/2006/relationships/theme" Target="../theme/theme1.xml" Id="R042159b4b0cc46e7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d1d1e521af07498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../slideLayouts/slideLayout1.xml" Id="Rc7838f4a8e284e08" /><Relationship Type="http://schemas.openxmlformats.org/officeDocument/2006/relationships/notesSlide" Target="../notesSlides/notesSlide1.xml" Id="R6ef00b76e7904833" /><Relationship Type="http://schemas.openxmlformats.org/officeDocument/2006/relationships/image" Target="/ppt/media/logo-light.png" Id="R3860e97d7106474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../slideLayouts/slideLayout1.xml" Id="R046c26c1bbb24863" /><Relationship Type="http://schemas.openxmlformats.org/officeDocument/2006/relationships/notesSlide" Target="../notesSlides/notesSlide2.xml" Id="R64ef510040774f9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../slideLayouts/slideLayout1.xml" Id="R53be0f796c0a4ef7" /><Relationship Type="http://schemas.openxmlformats.org/officeDocument/2006/relationships/notesSlide" Target="../notesSlides/notesSlide3.xml" Id="Rd978d6c6d1fa495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../slideLayouts/slideLayout1.xml" Id="Ra7e3b55dad9c4ad1" /><Relationship Type="http://schemas.openxmlformats.org/officeDocument/2006/relationships/notesSlide" Target="../notesSlides/notesSlide4.xml" Id="Re66511fb53ee48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../slideLayouts/slideLayout1.xml" Id="R529fb795a0464960" /><Relationship Type="http://schemas.openxmlformats.org/officeDocument/2006/relationships/notesSlide" Target="../notesSlides/notesSlide5.xml" Id="R32b35304f6c84ee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../slideLayouts/slideLayout1.xml" Id="R1766b314336c4a57" /><Relationship Type="http://schemas.openxmlformats.org/officeDocument/2006/relationships/notesSlide" Target="../notesSlides/notesSlide6.xml" Id="R3b51bbdadd62409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../slideLayouts/slideLayout1.xml" Id="R8c00a1271cf74285" /><Relationship Type="http://schemas.openxmlformats.org/officeDocument/2006/relationships/notesSlide" Target="../notesSlides/notesSlide7.xml" Id="R948cba87ef21448e" /><Relationship Type="http://schemas.openxmlformats.org/officeDocument/2006/relationships/image" Target="/ppt/media/logo-light.png" Id="R715a76e1777f49b6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Background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9" name="GhostCircle 999"/>
          <p:cNvSpPr/>
          <p:nvPr/>
        </p:nvSpPr>
        <p:spPr>
          <a:xfrm>
            <a:off x="9281160" y="4434840"/>
            <a:ext cx="2788920" cy="2286000"/>
          </a:xfrm>
          <a:prstGeom prst="ellipse">
            <a:avLst/>
          </a:prstGeom>
          <a:solidFill>
            <a:srgbClr val="DCE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4" descr="DCC-MCP logo"/>
          <p:cNvPicPr/>
          <p:nvPr/>
        </p:nvPicPr>
        <p:blipFill>
          <a:blip r:embed="R3860e97d71064743"/>
          <a:stretch>
            <a:fillRect/>
          </a:stretch>
        </p:blipFill>
        <p:spPr>
          <a:xfrm>
            <a:off x="5413248" y="685800"/>
            <a:ext cx="975665" cy="54864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371600" y="2651760"/>
            <a:ext cx="9418320" cy="128016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ctr">
            <a:r>
              <a:rPr lang="zh-CN" sz="5400" b="1">
                <a:solidFill>
                  <a:srgbClr val="172033"/>
                </a:solidFill>
                <a:latin typeface="Aptos"/>
                <a:ea typeface="Microsoft YaHei"/>
                <a:cs typeface="Aptos"/>
              </a:rPr>
              <a:t>Office Automation, End to End</a:t>
            </a:r>
          </a:p>
        </p:txBody>
      </p:sp>
      <p:sp>
        <p:nvSpPr>
          <p:cNvPr id="6" name="Background 6"/>
          <p:cNvSpPr/>
          <p:nvPr/>
        </p:nvSpPr>
        <p:spPr>
          <a:xfrm>
            <a:off x="5687568" y="3977640"/>
            <a:ext cx="822960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1371600" y="4251960"/>
            <a:ext cx="9418320" cy="9144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ctr">
            <a:r>
              <a:rPr lang="zh-CN" sz="1800">
                <a:solidFill>
                  <a:srgbClr val="5D6B82"/>
                </a:solidFill>
                <a:latin typeface="Aptos"/>
                <a:ea typeface="Microsoft YaHei"/>
                <a:cs typeface="Aptos"/>
              </a:rPr>
              <a:t>Editable outputs. Native fidelity. Auditable execution.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71600" y="6263640"/>
            <a:ext cx="9418320" cy="32004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ctr">
            <a:r>
              <a:rPr lang="zh-CN" sz="1100">
                <a:solidFill>
                  <a:srgbClr val="5D6B82"/>
                </a:solidFill>
                <a:latin typeface="Aptos"/>
                <a:ea typeface="Microsoft YaHei"/>
                <a:cs typeface="Aptos"/>
              </a:rPr>
              <a:t>DCC-MCP Studio Office Suite Capability Review · DCC-MCP Studio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TextBox 6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2800" b="1">
                <a:solidFill>
                  <a:srgbClr val="172033"/>
                </a:solidFill>
                <a:latin typeface="Aptos"/>
                <a:ea typeface="Microsoft YaHei"/>
                <a:cs typeface="Aptos"/>
              </a:rPr>
              <a:t>One runtime, three desktop applications</a:t>
            </a:r>
          </a:p>
        </p:txBody>
      </p:sp>
      <p:sp>
        <p:nvSpPr>
          <p:cNvPr id="7" name="Background 7"/>
          <p:cNvSpPr/>
          <p:nvPr/>
        </p:nvSpPr>
        <p:spPr>
          <a:xfrm>
            <a:off x="822960" y="1298448"/>
            <a:ext cx="82296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0" name="RoundRect 400"/>
          <p:cNvSpPr/>
          <p:nvPr/>
        </p:nvSpPr>
        <p:spPr>
          <a:xfrm>
            <a:off x="822960" y="162763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 algn="ctr">
            <a:r>
              <a:rPr lang="zh-CN" sz="2600">
                <a:solidFill>
                  <a:srgbClr val="0D9488"/>
                </a:solidFill>
                <a:latin typeface="Aptos"/>
                <a:ea typeface="Microsoft YaHei"/>
                <a:cs typeface="Aptos"/>
              </a:rPr>
              <a:t>3</a:t>
            </a:r>
          </a:p>
          <a:p algn="ctr">
            <a:r>
              <a:rPr lang="zh-CN" sz="2600">
                <a:solidFill>
                  <a:srgbClr val="0D9488"/>
                </a:solidFill>
                <a:latin typeface="Aptos"/>
                <a:ea typeface="Microsoft YaHei"/>
                <a:cs typeface="Aptos"/>
              </a:rPr>
              <a:t>desktop apps</a:t>
            </a:r>
          </a:p>
        </p:txBody>
      </p:sp>
      <p:sp>
        <p:nvSpPr>
          <p:cNvPr id="430" name="Background 430"/>
          <p:cNvSpPr/>
          <p:nvPr/>
        </p:nvSpPr>
        <p:spPr>
          <a:xfrm>
            <a:off x="1188720" y="1627632"/>
            <a:ext cx="502920" cy="502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1" name="RoundRect 401"/>
          <p:cNvSpPr/>
          <p:nvPr/>
        </p:nvSpPr>
        <p:spPr>
          <a:xfrm>
            <a:off x="4389120" y="162763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 algn="ctr">
            <a:r>
              <a:rPr lang="zh-CN" sz="2600">
                <a:solidFill>
                  <a:srgbClr val="0D9488"/>
                </a:solidFill>
                <a:latin typeface="Aptos"/>
                <a:ea typeface="Microsoft YaHei"/>
                <a:cs typeface="Aptos"/>
              </a:rPr>
              <a:t>5</a:t>
            </a:r>
          </a:p>
          <a:p algn="ctr">
            <a:r>
              <a:rPr lang="zh-CN" sz="2600">
                <a:solidFill>
                  <a:srgbClr val="0D9488"/>
                </a:solidFill>
                <a:latin typeface="Aptos"/>
                <a:ea typeface="Microsoft YaHei"/>
                <a:cs typeface="Aptos"/>
              </a:rPr>
              <a:t>PowerPoint capabilities</a:t>
            </a:r>
          </a:p>
        </p:txBody>
      </p:sp>
      <p:sp>
        <p:nvSpPr>
          <p:cNvPr id="431" name="Background 431"/>
          <p:cNvSpPr/>
          <p:nvPr/>
        </p:nvSpPr>
        <p:spPr>
          <a:xfrm>
            <a:off x="4754880" y="1627632"/>
            <a:ext cx="502920" cy="502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2" name="RoundRect 402"/>
          <p:cNvSpPr/>
          <p:nvPr/>
        </p:nvSpPr>
        <p:spPr>
          <a:xfrm>
            <a:off x="7955280" y="162763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 algn="ctr">
            <a:r>
              <a:rPr lang="zh-CN" sz="2600">
                <a:solidFill>
                  <a:srgbClr val="0D9488"/>
                </a:solidFill>
                <a:latin typeface="Aptos"/>
                <a:ea typeface="Microsoft YaHei"/>
                <a:cs typeface="Aptos"/>
              </a:rPr>
              <a:t>3</a:t>
            </a:r>
          </a:p>
          <a:p algn="ctr">
            <a:r>
              <a:rPr lang="zh-CN" sz="2600">
                <a:solidFill>
                  <a:srgbClr val="0D9488"/>
                </a:solidFill>
                <a:latin typeface="Aptos"/>
                <a:ea typeface="Microsoft YaHei"/>
                <a:cs typeface="Aptos"/>
              </a:rPr>
              <a:t>Word capabilities</a:t>
            </a:r>
          </a:p>
        </p:txBody>
      </p:sp>
      <p:sp>
        <p:nvSpPr>
          <p:cNvPr id="432" name="Background 432"/>
          <p:cNvSpPr/>
          <p:nvPr/>
        </p:nvSpPr>
        <p:spPr>
          <a:xfrm>
            <a:off x="8321040" y="1627632"/>
            <a:ext cx="502920" cy="502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3" name="RoundRect 403"/>
          <p:cNvSpPr/>
          <p:nvPr/>
        </p:nvSpPr>
        <p:spPr>
          <a:xfrm>
            <a:off x="822960" y="354787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 algn="ctr">
            <a:r>
              <a:rPr lang="zh-CN" sz="2600">
                <a:solidFill>
                  <a:srgbClr val="0D9488"/>
                </a:solidFill>
                <a:latin typeface="Aptos"/>
                <a:ea typeface="Microsoft YaHei"/>
                <a:cs typeface="Aptos"/>
              </a:rPr>
              <a:t>3</a:t>
            </a:r>
          </a:p>
          <a:p algn="ctr">
            <a:r>
              <a:rPr lang="zh-CN" sz="2600">
                <a:solidFill>
                  <a:srgbClr val="0D9488"/>
                </a:solidFill>
                <a:latin typeface="Aptos"/>
                <a:ea typeface="Microsoft YaHei"/>
                <a:cs typeface="Aptos"/>
              </a:rPr>
              <a:t>Excel capabilities</a:t>
            </a:r>
          </a:p>
        </p:txBody>
      </p:sp>
      <p:sp>
        <p:nvSpPr>
          <p:cNvPr id="433" name="Background 433"/>
          <p:cNvSpPr/>
          <p:nvPr/>
        </p:nvSpPr>
        <p:spPr>
          <a:xfrm>
            <a:off x="1188720" y="3547872"/>
            <a:ext cx="502920" cy="502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4" name="RoundRect 404"/>
          <p:cNvSpPr/>
          <p:nvPr/>
        </p:nvSpPr>
        <p:spPr>
          <a:xfrm>
            <a:off x="4389120" y="354787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 algn="ctr">
            <a:r>
              <a:rPr lang="zh-CN" sz="2600">
                <a:solidFill>
                  <a:srgbClr val="0D9488"/>
                </a:solidFill>
                <a:latin typeface="Aptos"/>
                <a:ea typeface="Microsoft YaHei"/>
                <a:cs typeface="Aptos"/>
              </a:rPr>
              <a:t>1</a:t>
            </a:r>
          </a:p>
          <a:p algn="ctr">
            <a:r>
              <a:rPr lang="zh-CN" sz="2600">
                <a:solidFill>
                  <a:srgbClr val="0D9488"/>
                </a:solidFill>
                <a:latin typeface="Aptos"/>
                <a:ea typeface="Microsoft YaHei"/>
                <a:cs typeface="Aptos"/>
              </a:rPr>
              <a:t>versioned protocol</a:t>
            </a:r>
          </a:p>
        </p:txBody>
      </p:sp>
      <p:sp>
        <p:nvSpPr>
          <p:cNvPr id="434" name="Background 434"/>
          <p:cNvSpPr/>
          <p:nvPr/>
        </p:nvSpPr>
        <p:spPr>
          <a:xfrm>
            <a:off x="4754880" y="3547872"/>
            <a:ext cx="502920" cy="502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5" name="RoundRect 405"/>
          <p:cNvSpPr/>
          <p:nvPr/>
        </p:nvSpPr>
        <p:spPr>
          <a:xfrm>
            <a:off x="7955280" y="354787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 algn="ctr">
            <a:r>
              <a:rPr lang="zh-CN" sz="2600">
                <a:solidFill>
                  <a:srgbClr val="0D9488"/>
                </a:solidFill>
                <a:latin typeface="Aptos"/>
                <a:ea typeface="Microsoft YaHei"/>
                <a:cs typeface="Aptos"/>
              </a:rPr>
              <a:t>11</a:t>
            </a:r>
          </a:p>
          <a:p algn="ctr">
            <a:r>
              <a:rPr lang="zh-CN" sz="2600">
                <a:solidFill>
                  <a:srgbClr val="0D9488"/>
                </a:solidFill>
                <a:latin typeface="Aptos"/>
                <a:ea typeface="Microsoft YaHei"/>
                <a:cs typeface="Aptos"/>
              </a:rPr>
              <a:t>semantic layouts</a:t>
            </a:r>
          </a:p>
        </p:txBody>
      </p:sp>
      <p:sp>
        <p:nvSpPr>
          <p:cNvPr id="435" name="Background 435"/>
          <p:cNvSpPr/>
          <p:nvPr/>
        </p:nvSpPr>
        <p:spPr>
          <a:xfrm>
            <a:off x="8321040" y="3547872"/>
            <a:ext cx="502920" cy="502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6" name="RoundRect 406"/>
          <p:cNvSpPr/>
          <p:nvPr/>
        </p:nvSpPr>
        <p:spPr>
          <a:xfrm>
            <a:off x="822960" y="546811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 algn="ctr">
            <a:r>
              <a:rPr lang="zh-CN" sz="2600">
                <a:solidFill>
                  <a:srgbClr val="0D9488"/>
                </a:solidFill>
                <a:latin typeface="Aptos"/>
                <a:ea typeface="Microsoft YaHei"/>
                <a:cs typeface="Aptos"/>
              </a:rPr>
              <a:t>Dry-run</a:t>
            </a:r>
          </a:p>
          <a:p algn="ctr">
            <a:r>
              <a:rPr lang="zh-CN" sz="2600">
                <a:solidFill>
                  <a:srgbClr val="0D9488"/>
                </a:solidFill>
                <a:latin typeface="Aptos"/>
                <a:ea typeface="Microsoft YaHei"/>
                <a:cs typeface="Aptos"/>
              </a:rPr>
              <a:t>before write</a:t>
            </a:r>
          </a:p>
        </p:txBody>
      </p:sp>
      <p:sp>
        <p:nvSpPr>
          <p:cNvPr id="436" name="Background 436"/>
          <p:cNvSpPr/>
          <p:nvPr/>
        </p:nvSpPr>
        <p:spPr>
          <a:xfrm>
            <a:off x="1188720" y="5468112"/>
            <a:ext cx="502920" cy="502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7" name="RoundRect 407"/>
          <p:cNvSpPr/>
          <p:nvPr/>
        </p:nvSpPr>
        <p:spPr>
          <a:xfrm>
            <a:off x="4389120" y="546811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 algn="ctr">
            <a:r>
              <a:rPr lang="zh-CN" sz="2600">
                <a:solidFill>
                  <a:srgbClr val="0D9488"/>
                </a:solidFill>
                <a:latin typeface="Aptos"/>
                <a:ea typeface="Microsoft YaHei"/>
                <a:cs typeface="Aptos"/>
              </a:rPr>
              <a:t>SHA-256</a:t>
            </a:r>
          </a:p>
          <a:p algn="ctr">
            <a:r>
              <a:rPr lang="zh-CN" sz="2600">
                <a:solidFill>
                  <a:srgbClr val="0D9488"/>
                </a:solidFill>
                <a:latin typeface="Aptos"/>
                <a:ea typeface="Microsoft YaHei"/>
                <a:cs typeface="Aptos"/>
              </a:rPr>
              <a:t>every artefact</a:t>
            </a:r>
          </a:p>
        </p:txBody>
      </p:sp>
      <p:sp>
        <p:nvSpPr>
          <p:cNvPr id="437" name="Background 437"/>
          <p:cNvSpPr/>
          <p:nvPr/>
        </p:nvSpPr>
        <p:spPr>
          <a:xfrm>
            <a:off x="4754880" y="5468112"/>
            <a:ext cx="502920" cy="502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8" name="RoundRect 408"/>
          <p:cNvSpPr/>
          <p:nvPr/>
        </p:nvSpPr>
        <p:spPr>
          <a:xfrm>
            <a:off x="7955280" y="546811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 algn="ctr">
            <a:r>
              <a:rPr lang="zh-CN" sz="2600">
                <a:solidFill>
                  <a:srgbClr val="0D9488"/>
                </a:solidFill>
                <a:latin typeface="Aptos"/>
                <a:ea typeface="Microsoft YaHei"/>
                <a:cs typeface="Aptos"/>
              </a:rPr>
              <a:t>1</a:t>
            </a:r>
          </a:p>
          <a:p algn="ctr">
            <a:r>
              <a:rPr lang="zh-CN" sz="2600">
                <a:solidFill>
                  <a:srgbClr val="0D9488"/>
                </a:solidFill>
                <a:latin typeface="Aptos"/>
                <a:ea typeface="Microsoft YaHei"/>
                <a:cs typeface="Aptos"/>
              </a:rPr>
              <a:t>writer per sidecar</a:t>
            </a:r>
          </a:p>
        </p:txBody>
      </p:sp>
      <p:sp>
        <p:nvSpPr>
          <p:cNvPr id="438" name="Background 438"/>
          <p:cNvSpPr/>
          <p:nvPr/>
        </p:nvSpPr>
        <p:spPr>
          <a:xfrm>
            <a:off x="8321040" y="5468112"/>
            <a:ext cx="502920" cy="502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TextBox 6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2800" b="1">
                <a:solidFill>
                  <a:srgbClr val="172033"/>
                </a:solidFill>
                <a:latin typeface="Aptos"/>
                <a:ea typeface="Microsoft YaHei"/>
                <a:cs typeface="Aptos"/>
              </a:rPr>
              <a:t>Contract-first execution path</a:t>
            </a:r>
          </a:p>
        </p:txBody>
      </p:sp>
      <p:sp>
        <p:nvSpPr>
          <p:cNvPr id="7" name="Background 7"/>
          <p:cNvSpPr/>
          <p:nvPr/>
        </p:nvSpPr>
        <p:spPr>
          <a:xfrm>
            <a:off x="822960" y="1298448"/>
            <a:ext cx="82296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0" name="Oval 500"/>
          <p:cNvSpPr/>
          <p:nvPr/>
        </p:nvSpPr>
        <p:spPr>
          <a:xfrm>
            <a:off x="2148840" y="1819656"/>
            <a:ext cx="384048" cy="384048"/>
          </a:xfrm>
          <a:prstGeom prst="ellipse">
            <a:avLst/>
          </a:prstGeom>
          <a:solidFill>
            <a:srgbClr val="F7F9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 algn="ctr">
            <a:r>
              <a:rPr sz="1200" b="1">
                <a:solidFill>
                  <a:srgbClr val="2563EB"/>
                </a:solidFill>
                <a:latin typeface="Aptos"/>
                <a:ea typeface="Microsoft YaHei"/>
                <a:cs typeface="Aptos"/>
              </a:rPr>
              <a:t>1</a:t>
            </a:r>
          </a:p>
        </p:txBody>
      </p:sp>
      <p:sp>
        <p:nvSpPr>
          <p:cNvPr id="520" name="RoundRect 520"/>
          <p:cNvSpPr/>
          <p:nvPr/>
        </p:nvSpPr>
        <p:spPr>
          <a:xfrm>
            <a:off x="2788920" y="1673352"/>
            <a:ext cx="854964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 algn="l">
            <a:r>
              <a:rPr lang="zh-CN" sz="1450">
                <a:solidFill>
                  <a:srgbClr val="172033"/>
                </a:solidFill>
                <a:latin typeface="Aptos"/>
                <a:ea typeface="Microsoft YaHei"/>
                <a:cs typeface="Aptos"/>
              </a:rPr>
              <a:t>MCP client | task-level tools</a:t>
            </a:r>
          </a:p>
        </p:txBody>
      </p:sp>
      <p:sp>
        <p:nvSpPr>
          <p:cNvPr id="501" name="Oval 501"/>
          <p:cNvSpPr/>
          <p:nvPr/>
        </p:nvSpPr>
        <p:spPr>
          <a:xfrm>
            <a:off x="2148840" y="2688336"/>
            <a:ext cx="384048" cy="384048"/>
          </a:xfrm>
          <a:prstGeom prst="ellipse">
            <a:avLst/>
          </a:prstGeom>
          <a:solidFill>
            <a:srgbClr val="F7F9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 algn="ctr">
            <a:r>
              <a:rPr sz="1200" b="1">
                <a:solidFill>
                  <a:srgbClr val="2563EB"/>
                </a:solidFill>
                <a:latin typeface="Aptos"/>
                <a:ea typeface="Microsoft YaHei"/>
                <a:cs typeface="Aptos"/>
              </a:rPr>
              <a:t>2</a:t>
            </a:r>
          </a:p>
        </p:txBody>
      </p:sp>
      <p:sp>
        <p:nvSpPr>
          <p:cNvPr id="521" name="RoundRect 521"/>
          <p:cNvSpPr/>
          <p:nvPr/>
        </p:nvSpPr>
        <p:spPr>
          <a:xfrm>
            <a:off x="2788920" y="2542032"/>
            <a:ext cx="854964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 algn="l">
            <a:r>
              <a:rPr lang="zh-CN" sz="1450">
                <a:solidFill>
                  <a:srgbClr val="172033"/>
                </a:solidFill>
                <a:latin typeface="Aptos"/>
                <a:ea typeface="Microsoft YaHei"/>
                <a:cs typeface="Aptos"/>
              </a:rPr>
              <a:t>Rust server | live capability filtering</a:t>
            </a:r>
          </a:p>
        </p:txBody>
      </p:sp>
      <p:sp>
        <p:nvSpPr>
          <p:cNvPr id="502" name="Oval 502"/>
          <p:cNvSpPr/>
          <p:nvPr/>
        </p:nvSpPr>
        <p:spPr>
          <a:xfrm>
            <a:off x="2148840" y="3557016"/>
            <a:ext cx="384048" cy="384048"/>
          </a:xfrm>
          <a:prstGeom prst="ellipse">
            <a:avLst/>
          </a:prstGeom>
          <a:solidFill>
            <a:srgbClr val="F7F9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 algn="ctr">
            <a:r>
              <a:rPr sz="1200" b="1">
                <a:solidFill>
                  <a:srgbClr val="2563EB"/>
                </a:solidFill>
                <a:latin typeface="Aptos"/>
                <a:ea typeface="Microsoft YaHei"/>
                <a:cs typeface="Aptos"/>
              </a:rPr>
              <a:t>3</a:t>
            </a:r>
          </a:p>
        </p:txBody>
      </p:sp>
      <p:sp>
        <p:nvSpPr>
          <p:cNvPr id="522" name="RoundRect 522"/>
          <p:cNvSpPr/>
          <p:nvPr/>
        </p:nvSpPr>
        <p:spPr>
          <a:xfrm>
            <a:off x="2788920" y="3410712"/>
            <a:ext cx="854964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 algn="l">
            <a:r>
              <a:rPr lang="zh-CN" sz="1450">
                <a:solidFill>
                  <a:srgbClr val="172033"/>
                </a:solidFill>
                <a:latin typeface="Aptos"/>
                <a:ea typeface="Microsoft YaHei"/>
                <a:cs typeface="Aptos"/>
              </a:rPr>
              <a:t>C# host | STA plus policy gate</a:t>
            </a:r>
          </a:p>
        </p:txBody>
      </p:sp>
      <p:sp>
        <p:nvSpPr>
          <p:cNvPr id="503" name="Oval 503"/>
          <p:cNvSpPr/>
          <p:nvPr/>
        </p:nvSpPr>
        <p:spPr>
          <a:xfrm>
            <a:off x="2148840" y="4425696"/>
            <a:ext cx="384048" cy="384048"/>
          </a:xfrm>
          <a:prstGeom prst="ellipse">
            <a:avLst/>
          </a:prstGeom>
          <a:solidFill>
            <a:srgbClr val="F7F9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 algn="ctr">
            <a:r>
              <a:rPr sz="1200" b="1">
                <a:solidFill>
                  <a:srgbClr val="2563EB"/>
                </a:solidFill>
                <a:latin typeface="Aptos"/>
                <a:ea typeface="Microsoft YaHei"/>
                <a:cs typeface="Aptos"/>
              </a:rPr>
              <a:t>4</a:t>
            </a:r>
          </a:p>
        </p:txBody>
      </p:sp>
      <p:sp>
        <p:nvSpPr>
          <p:cNvPr id="523" name="RoundRect 523"/>
          <p:cNvSpPr/>
          <p:nvPr/>
        </p:nvSpPr>
        <p:spPr>
          <a:xfrm>
            <a:off x="2788920" y="4279392"/>
            <a:ext cx="854964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 algn="l">
            <a:r>
              <a:rPr lang="zh-CN" sz="1450">
                <a:solidFill>
                  <a:srgbClr val="172033"/>
                </a:solidFill>
                <a:latin typeface="Aptos"/>
                <a:ea typeface="Microsoft YaHei"/>
                <a:cs typeface="Aptos"/>
              </a:rPr>
              <a:t>Desktop app | native COM renderer</a:t>
            </a:r>
          </a:p>
        </p:txBody>
      </p:sp>
      <p:sp>
        <p:nvSpPr>
          <p:cNvPr id="504" name="Oval 504"/>
          <p:cNvSpPr/>
          <p:nvPr/>
        </p:nvSpPr>
        <p:spPr>
          <a:xfrm>
            <a:off x="2148840" y="5294376"/>
            <a:ext cx="384048" cy="384048"/>
          </a:xfrm>
          <a:prstGeom prst="ellipse">
            <a:avLst/>
          </a:prstGeom>
          <a:solidFill>
            <a:srgbClr val="F7F9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 algn="ctr">
            <a:r>
              <a:rPr sz="1200" b="1">
                <a:solidFill>
                  <a:srgbClr val="2563EB"/>
                </a:solidFill>
                <a:latin typeface="Aptos"/>
                <a:ea typeface="Microsoft YaHei"/>
                <a:cs typeface="Aptos"/>
              </a:rPr>
              <a:t>5</a:t>
            </a:r>
          </a:p>
        </p:txBody>
      </p:sp>
      <p:sp>
        <p:nvSpPr>
          <p:cNvPr id="524" name="RoundRect 524"/>
          <p:cNvSpPr/>
          <p:nvPr/>
        </p:nvSpPr>
        <p:spPr>
          <a:xfrm>
            <a:off x="2788920" y="5148072"/>
            <a:ext cx="854964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 algn="l">
            <a:r>
              <a:rPr lang="zh-CN" sz="1450">
                <a:solidFill>
                  <a:srgbClr val="172033"/>
                </a:solidFill>
                <a:latin typeface="Aptos"/>
                <a:ea typeface="Microsoft YaHei"/>
                <a:cs typeface="Aptos"/>
              </a:rPr>
              <a:t>Artifact | inspect plus audit plus hash</a:t>
            </a:r>
          </a:p>
        </p:txBody>
      </p:sp>
      <p:cxnSp>
        <p:nvCxnSpPr>
          <p:cNvPr id="600" name="Connector 600"/>
          <p:cNvCxnSpPr/>
          <p:nvPr/>
        </p:nvCxnSpPr>
        <p:spPr>
          <a:xfrm>
            <a:off x="2340864" y="2194560"/>
            <a:ext cx="0" cy="347472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TextBox 6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2800" b="1">
                <a:solidFill>
                  <a:srgbClr val="172033"/>
                </a:solidFill>
                <a:latin typeface="Aptos"/>
                <a:ea typeface="Microsoft YaHei"/>
                <a:cs typeface="Aptos"/>
              </a:rPr>
              <a:t>Use each backend for what it proves</a:t>
            </a:r>
          </a:p>
        </p:txBody>
      </p:sp>
      <p:sp>
        <p:nvSpPr>
          <p:cNvPr id="7" name="Background 7"/>
          <p:cNvSpPr/>
          <p:nvPr/>
        </p:nvSpPr>
        <p:spPr>
          <a:xfrm>
            <a:off x="822960" y="1298448"/>
            <a:ext cx="82296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0" name="RoundRect 240"/>
          <p:cNvSpPr/>
          <p:nvPr/>
        </p:nvSpPr>
        <p:spPr>
          <a:xfrm>
            <a:off x="822960" y="1627632"/>
            <a:ext cx="5120640" cy="566928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 algn="ctr">
            <a:r>
              <a:rPr lang="zh-CN" sz="1600" b="1">
                <a:solidFill>
                  <a:srgbClr val="172033"/>
                </a:solidFill>
                <a:latin typeface="Aptos"/>
                <a:ea typeface="Microsoft YaHei"/>
                <a:cs typeface="Aptos"/>
              </a:rPr>
              <a:t>Open XML</a:t>
            </a:r>
          </a:p>
        </p:txBody>
      </p:sp>
      <p:sp>
        <p:nvSpPr>
          <p:cNvPr id="241" name="RoundRect 241"/>
          <p:cNvSpPr/>
          <p:nvPr/>
        </p:nvSpPr>
        <p:spPr>
          <a:xfrm>
            <a:off x="822960" y="2304288"/>
            <a:ext cx="5120640" cy="3749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 algn="l">
            <a:r>
              <a:rPr lang="zh-CN" sz="1450">
                <a:solidFill>
                  <a:srgbClr val="172033"/>
                </a:solidFill>
                <a:latin typeface="Aptos"/>
                <a:ea typeface="Microsoft YaHei"/>
                <a:cs typeface="Aptos"/>
              </a:rPr>
              <a:t>✓  Office-free deterministic compile</a:t>
            </a:r>
          </a:p>
          <a:p algn="l">
            <a:r>
              <a:rPr lang="zh-CN" sz="1450">
                <a:solidFill>
                  <a:srgbClr val="172033"/>
                </a:solidFill>
                <a:latin typeface="Aptos"/>
                <a:ea typeface="Microsoft YaHei"/>
                <a:cs typeface="Aptos"/>
              </a:rPr>
              <a:t>✓  Editable OOXML packages</a:t>
            </a:r>
          </a:p>
          <a:p algn="l">
            <a:r>
              <a:rPr lang="zh-CN" sz="1450">
                <a:solidFill>
                  <a:srgbClr val="172033"/>
                </a:solidFill>
                <a:latin typeface="Aptos"/>
                <a:ea typeface="Microsoft YaHei"/>
                <a:cs typeface="Aptos"/>
              </a:rPr>
              <a:t>✓  Fast structural work</a:t>
            </a:r>
          </a:p>
        </p:txBody>
      </p:sp>
      <p:sp>
        <p:nvSpPr>
          <p:cNvPr id="260" name="RoundRect 260"/>
          <p:cNvSpPr/>
          <p:nvPr/>
        </p:nvSpPr>
        <p:spPr>
          <a:xfrm>
            <a:off x="6309360" y="1627632"/>
            <a:ext cx="5120640" cy="566928"/>
          </a:xfrm>
          <a:prstGeom prst="roundRect">
            <a:avLst>
              <a:gd name="adj" fmla="val 16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 algn="ctr">
            <a:r>
              <a:rPr lang="zh-CN" sz="1600" b="1">
                <a:solidFill>
                  <a:srgbClr val="172033"/>
                </a:solidFill>
                <a:latin typeface="Aptos"/>
                <a:ea typeface="Microsoft YaHei"/>
                <a:cs typeface="Aptos"/>
              </a:rPr>
              <a:t>Desktop COM</a:t>
            </a:r>
          </a:p>
        </p:txBody>
      </p:sp>
      <p:sp>
        <p:nvSpPr>
          <p:cNvPr id="261" name="RoundRect 261"/>
          <p:cNvSpPr/>
          <p:nvPr/>
        </p:nvSpPr>
        <p:spPr>
          <a:xfrm>
            <a:off x="6309360" y="2304288"/>
            <a:ext cx="5120640" cy="3749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 algn="l">
            <a:r>
              <a:rPr lang="zh-CN" sz="1450">
                <a:solidFill>
                  <a:srgbClr val="172033"/>
                </a:solidFill>
                <a:latin typeface="Aptos"/>
                <a:ea typeface="Microsoft YaHei"/>
                <a:cs typeface="Aptos"/>
              </a:rPr>
              <a:t>✓  Native PowerPoint rendering</a:t>
            </a:r>
          </a:p>
          <a:p algn="l">
            <a:r>
              <a:rPr lang="zh-CN" sz="1450">
                <a:solidFill>
                  <a:srgbClr val="172033"/>
                </a:solidFill>
                <a:latin typeface="Aptos"/>
                <a:ea typeface="Microsoft YaHei"/>
                <a:cs typeface="Aptos"/>
              </a:rPr>
              <a:t>✓  PDF export and previews</a:t>
            </a:r>
          </a:p>
          <a:p algn="l">
            <a:r>
              <a:rPr lang="zh-CN" sz="1450">
                <a:solidFill>
                  <a:srgbClr val="172033"/>
                </a:solidFill>
                <a:latin typeface="Aptos"/>
                <a:ea typeface="Microsoft YaHei"/>
                <a:cs typeface="Aptos"/>
              </a:rPr>
              <a:t>✓  Overflow and readback checks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TextBox 6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2800" b="1">
                <a:solidFill>
                  <a:srgbClr val="172033"/>
                </a:solidFill>
                <a:latin typeface="Aptos"/>
                <a:ea typeface="Microsoft YaHei"/>
                <a:cs typeface="Aptos"/>
              </a:rPr>
              <a:t>A verified document workflow</a:t>
            </a:r>
          </a:p>
        </p:txBody>
      </p:sp>
      <p:sp>
        <p:nvSpPr>
          <p:cNvPr id="7" name="Background 7"/>
          <p:cNvSpPr/>
          <p:nvPr/>
        </p:nvSpPr>
        <p:spPr>
          <a:xfrm>
            <a:off x="822960" y="1298448"/>
            <a:ext cx="82296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0" name="Background 300"/>
          <p:cNvSpPr/>
          <p:nvPr/>
        </p:nvSpPr>
        <p:spPr>
          <a:xfrm>
            <a:off x="822960" y="3246120"/>
            <a:ext cx="10515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1" name="Oval 301"/>
          <p:cNvSpPr/>
          <p:nvPr/>
        </p:nvSpPr>
        <p:spPr>
          <a:xfrm>
            <a:off x="1719072" y="3090672"/>
            <a:ext cx="310896" cy="310896"/>
          </a:xfrm>
          <a:prstGeom prst="ellipse">
            <a:avLst/>
          </a:prstGeom>
          <a:solidFill>
            <a:srgbClr val="F7F9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 algn="ctr">
            <a:r>
              <a:rPr sz="1200" b="1">
                <a:solidFill>
                  <a:srgbClr val="0D9488"/>
                </a:solidFill>
                <a:latin typeface="Aptos"/>
                <a:ea typeface="Microsoft YaHei"/>
                <a:cs typeface="Aptos"/>
              </a:rPr>
              <a:t>1</a:t>
            </a:r>
          </a:p>
        </p:txBody>
      </p:sp>
      <p:sp>
        <p:nvSpPr>
          <p:cNvPr id="302" name="TextBox 302"/>
          <p:cNvSpPr txBox="1"/>
          <p:nvPr/>
        </p:nvSpPr>
        <p:spPr>
          <a:xfrm>
            <a:off x="960120" y="2103120"/>
            <a:ext cx="1828800" cy="96012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ctr">
            <a:r>
              <a:rPr lang="zh-CN" sz="1350">
                <a:solidFill>
                  <a:srgbClr val="172033"/>
                </a:solidFill>
                <a:latin typeface="Aptos"/>
                <a:ea typeface="Microsoft YaHei"/>
                <a:cs typeface="Aptos"/>
              </a:rPr>
              <a:t>Discover live capabilities</a:t>
            </a:r>
          </a:p>
        </p:txBody>
      </p:sp>
      <p:sp>
        <p:nvSpPr>
          <p:cNvPr id="303" name="Oval 303"/>
          <p:cNvSpPr/>
          <p:nvPr/>
        </p:nvSpPr>
        <p:spPr>
          <a:xfrm>
            <a:off x="3822192" y="3090672"/>
            <a:ext cx="310896" cy="310896"/>
          </a:xfrm>
          <a:prstGeom prst="ellipse">
            <a:avLst/>
          </a:prstGeom>
          <a:solidFill>
            <a:srgbClr val="F7F9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 algn="ctr">
            <a:r>
              <a:rPr sz="1200" b="1">
                <a:solidFill>
                  <a:srgbClr val="0D9488"/>
                </a:solidFill>
                <a:latin typeface="Aptos"/>
                <a:ea typeface="Microsoft YaHei"/>
                <a:cs typeface="Aptos"/>
              </a:rPr>
              <a:t>2</a:t>
            </a:r>
          </a:p>
        </p:txBody>
      </p:sp>
      <p:sp>
        <p:nvSpPr>
          <p:cNvPr id="304" name="TextBox 304"/>
          <p:cNvSpPr txBox="1"/>
          <p:nvPr/>
        </p:nvSpPr>
        <p:spPr>
          <a:xfrm>
            <a:off x="3063240" y="3566160"/>
            <a:ext cx="1828800" cy="96012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ctr">
            <a:r>
              <a:rPr lang="zh-CN" sz="1350">
                <a:solidFill>
                  <a:srgbClr val="172033"/>
                </a:solidFill>
                <a:latin typeface="Aptos"/>
                <a:ea typeface="Microsoft YaHei"/>
                <a:cs typeface="Aptos"/>
              </a:rPr>
              <a:t>Compile an editable deck</a:t>
            </a:r>
          </a:p>
        </p:txBody>
      </p:sp>
      <p:sp>
        <p:nvSpPr>
          <p:cNvPr id="305" name="Oval 305"/>
          <p:cNvSpPr/>
          <p:nvPr/>
        </p:nvSpPr>
        <p:spPr>
          <a:xfrm>
            <a:off x="5925312" y="3090672"/>
            <a:ext cx="310896" cy="310896"/>
          </a:xfrm>
          <a:prstGeom prst="ellipse">
            <a:avLst/>
          </a:prstGeom>
          <a:solidFill>
            <a:srgbClr val="F7F9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 algn="ctr">
            <a:r>
              <a:rPr sz="1200" b="1">
                <a:solidFill>
                  <a:srgbClr val="0D9488"/>
                </a:solidFill>
                <a:latin typeface="Aptos"/>
                <a:ea typeface="Microsoft YaHei"/>
                <a:cs typeface="Aptos"/>
              </a:rPr>
              <a:t>3</a:t>
            </a:r>
          </a:p>
        </p:txBody>
      </p:sp>
      <p:sp>
        <p:nvSpPr>
          <p:cNvPr id="306" name="TextBox 306"/>
          <p:cNvSpPr txBox="1"/>
          <p:nvPr/>
        </p:nvSpPr>
        <p:spPr>
          <a:xfrm>
            <a:off x="5166360" y="2103120"/>
            <a:ext cx="1828800" cy="96012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ctr">
            <a:r>
              <a:rPr lang="zh-CN" sz="1350">
                <a:solidFill>
                  <a:srgbClr val="172033"/>
                </a:solidFill>
                <a:latin typeface="Aptos"/>
                <a:ea typeface="Microsoft YaHei"/>
                <a:cs typeface="Aptos"/>
              </a:rPr>
              <a:t>Render native previews</a:t>
            </a:r>
          </a:p>
        </p:txBody>
      </p:sp>
      <p:sp>
        <p:nvSpPr>
          <p:cNvPr id="307" name="Oval 307"/>
          <p:cNvSpPr/>
          <p:nvPr/>
        </p:nvSpPr>
        <p:spPr>
          <a:xfrm>
            <a:off x="8028432" y="3090672"/>
            <a:ext cx="310896" cy="310896"/>
          </a:xfrm>
          <a:prstGeom prst="ellipse">
            <a:avLst/>
          </a:prstGeom>
          <a:solidFill>
            <a:srgbClr val="F7F9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 algn="ctr">
            <a:r>
              <a:rPr sz="1200" b="1">
                <a:solidFill>
                  <a:srgbClr val="0D9488"/>
                </a:solidFill>
                <a:latin typeface="Aptos"/>
                <a:ea typeface="Microsoft YaHei"/>
                <a:cs typeface="Aptos"/>
              </a:rPr>
              <a:t>4</a:t>
            </a:r>
          </a:p>
        </p:txBody>
      </p:sp>
      <p:sp>
        <p:nvSpPr>
          <p:cNvPr id="308" name="TextBox 308"/>
          <p:cNvSpPr txBox="1"/>
          <p:nvPr/>
        </p:nvSpPr>
        <p:spPr>
          <a:xfrm>
            <a:off x="7269480" y="3566160"/>
            <a:ext cx="1828800" cy="96012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ctr">
            <a:r>
              <a:rPr lang="zh-CN" sz="1350">
                <a:solidFill>
                  <a:srgbClr val="172033"/>
                </a:solidFill>
                <a:latin typeface="Aptos"/>
                <a:ea typeface="Microsoft YaHei"/>
                <a:cs typeface="Aptos"/>
              </a:rPr>
              <a:t>Inspect for overflow</a:t>
            </a:r>
          </a:p>
        </p:txBody>
      </p:sp>
      <p:sp>
        <p:nvSpPr>
          <p:cNvPr id="309" name="Oval 309"/>
          <p:cNvSpPr/>
          <p:nvPr/>
        </p:nvSpPr>
        <p:spPr>
          <a:xfrm>
            <a:off x="10131552" y="3090672"/>
            <a:ext cx="310896" cy="310896"/>
          </a:xfrm>
          <a:prstGeom prst="ellipse">
            <a:avLst/>
          </a:prstGeom>
          <a:solidFill>
            <a:srgbClr val="F7F9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 algn="ctr">
            <a:r>
              <a:rPr sz="1200" b="1">
                <a:solidFill>
                  <a:srgbClr val="0D9488"/>
                </a:solidFill>
                <a:latin typeface="Aptos"/>
                <a:ea typeface="Microsoft YaHei"/>
                <a:cs typeface="Aptos"/>
              </a:rPr>
              <a:t>5</a:t>
            </a:r>
          </a:p>
        </p:txBody>
      </p:sp>
      <p:sp>
        <p:nvSpPr>
          <p:cNvPr id="310" name="TextBox 310"/>
          <p:cNvSpPr txBox="1"/>
          <p:nvPr/>
        </p:nvSpPr>
        <p:spPr>
          <a:xfrm>
            <a:off x="9372600" y="2103120"/>
            <a:ext cx="1828800" cy="96012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ctr">
            <a:r>
              <a:rPr lang="zh-CN" sz="1350">
                <a:solidFill>
                  <a:srgbClr val="172033"/>
                </a:solidFill>
                <a:latin typeface="Aptos"/>
                <a:ea typeface="Microsoft YaHei"/>
                <a:cs typeface="Aptos"/>
              </a:rPr>
              <a:t>Return an audit trail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TextBox 6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2800" b="1">
                <a:solidFill>
                  <a:srgbClr val="172033"/>
                </a:solidFill>
                <a:latin typeface="Aptos"/>
                <a:ea typeface="Microsoft YaHei"/>
                <a:cs typeface="Aptos"/>
              </a:rPr>
              <a:t>2025年度 release language is still present</a:t>
            </a:r>
          </a:p>
        </p:txBody>
      </p:sp>
      <p:sp>
        <p:nvSpPr>
          <p:cNvPr id="7" name="Background 7"/>
          <p:cNvSpPr/>
          <p:nvPr/>
        </p:nvSpPr>
        <p:spPr>
          <a:xfrm>
            <a:off x="822960" y="1298448"/>
            <a:ext cx="82296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Oval 100"/>
          <p:cNvSpPr/>
          <p:nvPr/>
        </p:nvSpPr>
        <p:spPr>
          <a:xfrm>
            <a:off x="868680" y="1783080"/>
            <a:ext cx="164592" cy="16459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TextBox 101"/>
          <p:cNvSpPr txBox="1"/>
          <p:nvPr/>
        </p:nvSpPr>
        <p:spPr>
          <a:xfrm>
            <a:off x="1234440" y="1627632"/>
            <a:ext cx="9966960" cy="82296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650">
                <a:solidFill>
                  <a:srgbClr val="172033"/>
                </a:solidFill>
                <a:latin typeface="Aptos"/>
                <a:ea typeface="Microsoft YaHei"/>
                <a:cs typeface="Aptos"/>
              </a:rPr>
              <a:t>The replacement showcase first discovers this marker with dry-run.</a:t>
            </a:r>
          </a:p>
        </p:txBody>
      </p:sp>
      <p:sp>
        <p:nvSpPr>
          <p:cNvPr id="102" name="Background 102"/>
          <p:cNvSpPr/>
          <p:nvPr/>
        </p:nvSpPr>
        <p:spPr>
          <a:xfrm>
            <a:off x="822960" y="2496312"/>
            <a:ext cx="10515600" cy="15545"/>
          </a:xfrm>
          <a:prstGeom prst="rect">
            <a:avLst/>
          </a:prstGeom>
          <a:solidFill>
            <a:srgbClr val="DCE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Oval 103"/>
          <p:cNvSpPr/>
          <p:nvPr/>
        </p:nvSpPr>
        <p:spPr>
          <a:xfrm>
            <a:off x="868680" y="2715768"/>
            <a:ext cx="164592" cy="16459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TextBox 104"/>
          <p:cNvSpPr txBox="1"/>
          <p:nvPr/>
        </p:nvSpPr>
        <p:spPr>
          <a:xfrm>
            <a:off x="1234440" y="2560320"/>
            <a:ext cx="9966960" cy="82296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650">
                <a:solidFill>
                  <a:srgbClr val="172033"/>
                </a:solidFill>
                <a:latin typeface="Aptos"/>
                <a:ea typeface="Microsoft YaHei"/>
                <a:cs typeface="Aptos"/>
              </a:rPr>
              <a:t>An unconfirmed write is refused.</a:t>
            </a:r>
          </a:p>
        </p:txBody>
      </p:sp>
      <p:sp>
        <p:nvSpPr>
          <p:cNvPr id="105" name="Background 105"/>
          <p:cNvSpPr/>
          <p:nvPr/>
        </p:nvSpPr>
        <p:spPr>
          <a:xfrm>
            <a:off x="822960" y="3429000"/>
            <a:ext cx="10515600" cy="15545"/>
          </a:xfrm>
          <a:prstGeom prst="rect">
            <a:avLst/>
          </a:prstGeom>
          <a:solidFill>
            <a:srgbClr val="DCE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Oval 106"/>
          <p:cNvSpPr/>
          <p:nvPr/>
        </p:nvSpPr>
        <p:spPr>
          <a:xfrm>
            <a:off x="868680" y="3648456"/>
            <a:ext cx="164592" cy="16459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TextBox 107"/>
          <p:cNvSpPr txBox="1"/>
          <p:nvPr/>
        </p:nvSpPr>
        <p:spPr>
          <a:xfrm>
            <a:off x="1234440" y="3493008"/>
            <a:ext cx="9966960" cy="82296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650">
                <a:solidFill>
                  <a:srgbClr val="172033"/>
                </a:solidFill>
                <a:latin typeface="Aptos"/>
                <a:ea typeface="Microsoft YaHei"/>
                <a:cs typeface="Aptos"/>
              </a:rPr>
              <a:t>A confirmed write creates a byte-exact checkpoint.</a:t>
            </a:r>
          </a:p>
        </p:txBody>
      </p:sp>
      <p:sp>
        <p:nvSpPr>
          <p:cNvPr id="108" name="Background 108"/>
          <p:cNvSpPr/>
          <p:nvPr/>
        </p:nvSpPr>
        <p:spPr>
          <a:xfrm>
            <a:off x="822960" y="4361688"/>
            <a:ext cx="10515600" cy="15545"/>
          </a:xfrm>
          <a:prstGeom prst="rect">
            <a:avLst/>
          </a:prstGeom>
          <a:solidFill>
            <a:srgbClr val="DCE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Oval 109"/>
          <p:cNvSpPr/>
          <p:nvPr/>
        </p:nvSpPr>
        <p:spPr>
          <a:xfrm>
            <a:off x="868680" y="4581144"/>
            <a:ext cx="164592" cy="16459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TextBox 110"/>
          <p:cNvSpPr txBox="1"/>
          <p:nvPr/>
        </p:nvSpPr>
        <p:spPr>
          <a:xfrm>
            <a:off x="1234440" y="4425696"/>
            <a:ext cx="9966960" cy="82296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650">
                <a:solidFill>
                  <a:srgbClr val="172033"/>
                </a:solidFill>
                <a:latin typeface="Aptos"/>
                <a:ea typeface="Microsoft YaHei"/>
                <a:cs typeface="Aptos"/>
              </a:rPr>
              <a:t>A second dry-run proves 2026年度 is present.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Background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9" name="GhostCircle 999"/>
          <p:cNvSpPr/>
          <p:nvPr/>
        </p:nvSpPr>
        <p:spPr>
          <a:xfrm>
            <a:off x="320040" y="320040"/>
            <a:ext cx="2651760" cy="2651760"/>
          </a:xfrm>
          <a:prstGeom prst="ellipse">
            <a:avLst/>
          </a:prstGeom>
          <a:solidFill>
            <a:srgbClr val="DCE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4" descr="DCC-MCP logo"/>
          <p:cNvPicPr/>
          <p:nvPr/>
        </p:nvPicPr>
        <p:blipFill>
          <a:blip r:embed="R715a76e1777f49b6"/>
          <a:stretch>
            <a:fillRect/>
          </a:stretch>
        </p:blipFill>
        <p:spPr>
          <a:xfrm>
            <a:off x="5413248" y="1965960"/>
            <a:ext cx="1300277" cy="73152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371600" y="3063240"/>
            <a:ext cx="9418320" cy="109728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ctr">
            <a:r>
              <a:rPr lang="zh-CN" sz="4600" b="1">
                <a:solidFill>
                  <a:srgbClr val="172033"/>
                </a:solidFill>
                <a:latin typeface="Aptos"/>
                <a:ea typeface="Microsoft YaHei"/>
                <a:cs typeface="Aptos"/>
              </a:rPr>
              <a:t>Built for agents. Verified by Office.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71600" y="4343400"/>
            <a:ext cx="9418320" cy="64008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ctr">
            <a:r>
              <a:rPr lang="zh-CN" sz="1600">
                <a:solidFill>
                  <a:srgbClr val="5D6B82"/>
                </a:solidFill>
                <a:latin typeface="Aptos"/>
                <a:ea typeface="Microsoft YaHei"/>
                <a:cs typeface="Aptos"/>
              </a:rPr>
              <a:t>PowerPoint, Word and Excel through one governed automation contract.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