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7772400" cy="10058400"/>
  <p:defaultTextStyle>
    <a:lvl1pPr>
      <a:defRPr sz="1800"/>
    </a:lvl1pPr>
    <a:lvl2pPr>
      <a:defRPr sz="1800"/>
    </a:lvl2pPr>
    <a:lvl3pPr>
      <a:defRPr sz="1800"/>
    </a:lvl3pPr>
    <a:lvl4pPr>
      <a:defRPr sz="1800"/>
    </a:lvl4pPr>
    <a:lvl5pPr>
      <a:defRPr sz="1800"/>
    </a:lvl5pPr>
    <a:lvl6pPr>
      <a:defRPr sz="1800"/>
    </a:lvl6pPr>
    <a:lvl7pPr>
      <a:defRPr sz="1800"/>
    </a:lvl7pPr>
    <a:lvl8pPr>
      <a:defRPr sz="1800"/>
    </a:lvl8pPr>
    <a:lvl9pPr>
      <a:defRPr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87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template-first overview of the shipped shared Office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Counts come from the live capability handshake captured with this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Raw COM members remain behind the task-level capability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compiler never claims to be the final renderer.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stage returns structured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supplies a visible marker for the global replace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9" name="GhostCircle 999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4" descr="DCC-MCP 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5413248" y="685800"/>
            <a:ext cx="975665" cy="54864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54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Office Automation, End to End</a:t>
            </a:r>
          </a:p>
        </p:txBody>
      </p:sp>
      <p:sp>
        <p:nvSpPr>
          <p:cNvPr id="6" name="Background 6"/>
          <p:cNvSpPr/>
          <p:nvPr/>
        </p:nvSpPr>
        <p:spPr>
          <a:xfrm>
            <a:off x="5687568" y="3977640"/>
            <a:ext cx="82296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8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Editable outputs. Native fidelity. Auditable execution.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1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DCC-MCP Studio Office Suite Capability Review · DCC-MCP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One runtime, three desktop applications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0" name="RoundRect 400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3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desktop apps</a:t>
            </a:r>
          </a:p>
        </p:txBody>
      </p:sp>
      <p:sp>
        <p:nvSpPr>
          <p:cNvPr id="430" name="Background 430"/>
          <p:cNvSpPr/>
          <p:nvPr/>
        </p:nvSpPr>
        <p:spPr>
          <a:xfrm>
            <a:off x="1188720" y="162763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1" name="RoundRect 401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5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PowerPoint capabilities</a:t>
            </a:r>
          </a:p>
        </p:txBody>
      </p:sp>
      <p:sp>
        <p:nvSpPr>
          <p:cNvPr id="431" name="Background 431"/>
          <p:cNvSpPr/>
          <p:nvPr/>
        </p:nvSpPr>
        <p:spPr>
          <a:xfrm>
            <a:off x="4754880" y="162763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2" name="RoundRect 402"/>
          <p:cNvSpPr/>
          <p:nvPr/>
        </p:nvSpPr>
        <p:spPr>
          <a:xfrm>
            <a:off x="795528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3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Word capabilities</a:t>
            </a:r>
          </a:p>
        </p:txBody>
      </p:sp>
      <p:sp>
        <p:nvSpPr>
          <p:cNvPr id="432" name="Background 432"/>
          <p:cNvSpPr/>
          <p:nvPr/>
        </p:nvSpPr>
        <p:spPr>
          <a:xfrm>
            <a:off x="8321040" y="162763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3" name="RoundRect 403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3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Excel capabilities</a:t>
            </a:r>
          </a:p>
        </p:txBody>
      </p:sp>
      <p:sp>
        <p:nvSpPr>
          <p:cNvPr id="433" name="Background 433"/>
          <p:cNvSpPr/>
          <p:nvPr/>
        </p:nvSpPr>
        <p:spPr>
          <a:xfrm>
            <a:off x="1188720" y="354787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4" name="RoundRect 404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1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versioned protocol</a:t>
            </a:r>
          </a:p>
        </p:txBody>
      </p:sp>
      <p:sp>
        <p:nvSpPr>
          <p:cNvPr id="434" name="Background 434"/>
          <p:cNvSpPr/>
          <p:nvPr/>
        </p:nvSpPr>
        <p:spPr>
          <a:xfrm>
            <a:off x="4754880" y="354787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5" name="RoundRect 405"/>
          <p:cNvSpPr/>
          <p:nvPr/>
        </p:nvSpPr>
        <p:spPr>
          <a:xfrm>
            <a:off x="795528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11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semantic layouts</a:t>
            </a:r>
          </a:p>
        </p:txBody>
      </p:sp>
      <p:sp>
        <p:nvSpPr>
          <p:cNvPr id="435" name="Background 435"/>
          <p:cNvSpPr/>
          <p:nvPr/>
        </p:nvSpPr>
        <p:spPr>
          <a:xfrm>
            <a:off x="8321040" y="354787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6" name="RoundRect 406"/>
          <p:cNvSpPr/>
          <p:nvPr/>
        </p:nvSpPr>
        <p:spPr>
          <a:xfrm>
            <a:off x="822960" y="546811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Dry-run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before write</a:t>
            </a:r>
          </a:p>
        </p:txBody>
      </p:sp>
      <p:sp>
        <p:nvSpPr>
          <p:cNvPr id="436" name="Background 436"/>
          <p:cNvSpPr/>
          <p:nvPr/>
        </p:nvSpPr>
        <p:spPr>
          <a:xfrm>
            <a:off x="1188720" y="546811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7" name="RoundRect 407"/>
          <p:cNvSpPr/>
          <p:nvPr/>
        </p:nvSpPr>
        <p:spPr>
          <a:xfrm>
            <a:off x="4389120" y="546811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SHA-256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every artefact</a:t>
            </a:r>
          </a:p>
        </p:txBody>
      </p:sp>
      <p:sp>
        <p:nvSpPr>
          <p:cNvPr id="437" name="Background 437"/>
          <p:cNvSpPr/>
          <p:nvPr/>
        </p:nvSpPr>
        <p:spPr>
          <a:xfrm>
            <a:off x="4754880" y="546811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8" name="RoundRect 408"/>
          <p:cNvSpPr/>
          <p:nvPr/>
        </p:nvSpPr>
        <p:spPr>
          <a:xfrm>
            <a:off x="7955280" y="546811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1</a:t>
            </a:r>
          </a:p>
          <a:p>
            <a:r>
              <a:rPr lang="zh-CN" sz="2600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writer per sidecar</a:t>
            </a:r>
          </a:p>
        </p:txBody>
      </p:sp>
      <p:sp>
        <p:nvSpPr>
          <p:cNvPr id="438" name="Background 438"/>
          <p:cNvSpPr/>
          <p:nvPr/>
        </p:nvSpPr>
        <p:spPr>
          <a:xfrm>
            <a:off x="8321040" y="5468112"/>
            <a:ext cx="5029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Contract-first execution path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0" name="Oval 500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1</a:t>
            </a:r>
          </a:p>
        </p:txBody>
      </p:sp>
      <p:sp>
        <p:nvSpPr>
          <p:cNvPr id="520" name="RoundRect 520"/>
          <p:cNvSpPr/>
          <p:nvPr/>
        </p:nvSpPr>
        <p:spPr>
          <a:xfrm>
            <a:off x="2788920" y="167335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MCP client | task-level tools</a:t>
            </a:r>
          </a:p>
        </p:txBody>
      </p:sp>
      <p:sp>
        <p:nvSpPr>
          <p:cNvPr id="501" name="Oval 501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2</a:t>
            </a:r>
          </a:p>
        </p:txBody>
      </p:sp>
      <p:sp>
        <p:nvSpPr>
          <p:cNvPr id="521" name="RoundRect 521"/>
          <p:cNvSpPr/>
          <p:nvPr/>
        </p:nvSpPr>
        <p:spPr>
          <a:xfrm>
            <a:off x="2788920" y="254203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Rust server | live capability filtering</a:t>
            </a:r>
          </a:p>
        </p:txBody>
      </p:sp>
      <p:sp>
        <p:nvSpPr>
          <p:cNvPr id="502" name="Oval 502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3</a:t>
            </a:r>
          </a:p>
        </p:txBody>
      </p:sp>
      <p:sp>
        <p:nvSpPr>
          <p:cNvPr id="522" name="RoundRect 522"/>
          <p:cNvSpPr/>
          <p:nvPr/>
        </p:nvSpPr>
        <p:spPr>
          <a:xfrm>
            <a:off x="2788920" y="341071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C# host | STA plus policy gate</a:t>
            </a:r>
          </a:p>
        </p:txBody>
      </p:sp>
      <p:sp>
        <p:nvSpPr>
          <p:cNvPr id="503" name="Oval 503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4</a:t>
            </a:r>
          </a:p>
        </p:txBody>
      </p:sp>
      <p:sp>
        <p:nvSpPr>
          <p:cNvPr id="523" name="RoundRect 523"/>
          <p:cNvSpPr/>
          <p:nvPr/>
        </p:nvSpPr>
        <p:spPr>
          <a:xfrm>
            <a:off x="2788920" y="427939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Desktop app | native COM renderer</a:t>
            </a:r>
          </a:p>
        </p:txBody>
      </p:sp>
      <p:sp>
        <p:nvSpPr>
          <p:cNvPr id="504" name="Oval 504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5</a:t>
            </a:r>
          </a:p>
        </p:txBody>
      </p:sp>
      <p:sp>
        <p:nvSpPr>
          <p:cNvPr id="524" name="RoundRect 524"/>
          <p:cNvSpPr/>
          <p:nvPr/>
        </p:nvSpPr>
        <p:spPr>
          <a:xfrm>
            <a:off x="2788920" y="514807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Artifact | inspect plus audit plus hash</a:t>
            </a:r>
          </a:p>
        </p:txBody>
      </p:sp>
      <p:cxnSp>
        <p:nvCxnSpPr>
          <p:cNvPr id="600" name="Connector 600"/>
          <p:cNvCxnSpPr/>
          <p:nvPr/>
        </p:nvCxnSpPr>
        <p:spPr>
          <a:xfrm>
            <a:off x="2340864" y="2194560"/>
            <a:ext cx="0" cy="347472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Use each backend for what it proves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0" name="RoundRect 240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6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Open XML</a:t>
            </a:r>
          </a:p>
        </p:txBody>
      </p:sp>
      <p:sp>
        <p:nvSpPr>
          <p:cNvPr id="241" name="RoundRect 241"/>
          <p:cNvSpPr/>
          <p:nvPr/>
        </p:nvSpPr>
        <p:spPr>
          <a:xfrm>
            <a:off x="822960" y="2304288"/>
            <a:ext cx="5120640" cy="3749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Office-free deterministic compile</a:t>
            </a:r>
          </a:p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Editable OOXML packages</a:t>
            </a:r>
          </a:p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Fast structural work</a:t>
            </a:r>
          </a:p>
        </p:txBody>
      </p:sp>
      <p:sp>
        <p:nvSpPr>
          <p:cNvPr id="260" name="RoundRect 260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6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Desktop COM</a:t>
            </a:r>
          </a:p>
        </p:txBody>
      </p:sp>
      <p:sp>
        <p:nvSpPr>
          <p:cNvPr id="261" name="RoundRect 261"/>
          <p:cNvSpPr/>
          <p:nvPr/>
        </p:nvSpPr>
        <p:spPr>
          <a:xfrm>
            <a:off x="6309360" y="2304288"/>
            <a:ext cx="5120640" cy="3749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Native PowerPoint rendering</a:t>
            </a:r>
          </a:p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PDF export and previews</a:t>
            </a:r>
          </a:p>
          <a:p>
            <a:r>
              <a:rPr lang="zh-CN" sz="14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✓  Overflow and readback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 verified document workflow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0" name="Background 300"/>
          <p:cNvSpPr/>
          <p:nvPr/>
        </p:nvSpPr>
        <p:spPr>
          <a:xfrm>
            <a:off x="822960" y="3246120"/>
            <a:ext cx="10515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1" name="Oval 301"/>
          <p:cNvSpPr/>
          <p:nvPr/>
        </p:nvSpPr>
        <p:spPr>
          <a:xfrm>
            <a:off x="171907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1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96012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Discover live capabilities</a:t>
            </a:r>
          </a:p>
        </p:txBody>
      </p:sp>
      <p:sp>
        <p:nvSpPr>
          <p:cNvPr id="303" name="Oval 303"/>
          <p:cNvSpPr/>
          <p:nvPr/>
        </p:nvSpPr>
        <p:spPr>
          <a:xfrm>
            <a:off x="382219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2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3063240" y="356616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Compile an editable deck</a:t>
            </a:r>
          </a:p>
        </p:txBody>
      </p:sp>
      <p:sp>
        <p:nvSpPr>
          <p:cNvPr id="305" name="Oval 305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3</a:t>
            </a:r>
          </a:p>
        </p:txBody>
      </p:sp>
      <p:sp>
        <p:nvSpPr>
          <p:cNvPr id="306" name="TextBox 306"/>
          <p:cNvSpPr txBox="1"/>
          <p:nvPr/>
        </p:nvSpPr>
        <p:spPr>
          <a:xfrm>
            <a:off x="516636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Render native previews</a:t>
            </a:r>
          </a:p>
        </p:txBody>
      </p:sp>
      <p:sp>
        <p:nvSpPr>
          <p:cNvPr id="307" name="Oval 307"/>
          <p:cNvSpPr/>
          <p:nvPr/>
        </p:nvSpPr>
        <p:spPr>
          <a:xfrm>
            <a:off x="802843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4</a:t>
            </a:r>
          </a:p>
        </p:txBody>
      </p:sp>
      <p:sp>
        <p:nvSpPr>
          <p:cNvPr id="308" name="TextBox 308"/>
          <p:cNvSpPr txBox="1"/>
          <p:nvPr/>
        </p:nvSpPr>
        <p:spPr>
          <a:xfrm>
            <a:off x="7269480" y="356616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Inspect for overflow</a:t>
            </a:r>
          </a:p>
        </p:txBody>
      </p:sp>
      <p:sp>
        <p:nvSpPr>
          <p:cNvPr id="309" name="Oval 309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F7F9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D9488"/>
                </a:solidFill>
                <a:latin typeface="Aptos"/>
                <a:ea typeface="Microsoft YaHei"/>
                <a:cs typeface="Aptos"/>
              </a:rPr>
              <a:t>5</a:t>
            </a:r>
          </a:p>
        </p:txBody>
      </p:sp>
      <p:sp>
        <p:nvSpPr>
          <p:cNvPr id="310" name="TextBox 310"/>
          <p:cNvSpPr txBox="1"/>
          <p:nvPr/>
        </p:nvSpPr>
        <p:spPr>
          <a:xfrm>
            <a:off x="937260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3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Return an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en-US" alt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2026</a:t>
            </a:r>
            <a:r>
              <a:rPr lang="zh-CN" altLang="en-US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年度 </a:t>
            </a:r>
            <a:r>
              <a:rPr lang="en-US" altLang="zh-CN" sz="28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release language is still present</a:t>
            </a:r>
            <a:endParaRPr lang="zh-CN" sz="2800" b="1">
              <a:solidFill>
                <a:srgbClr val="172033"/>
              </a:solidFill>
              <a:latin typeface="Aptos"/>
              <a:ea typeface="Microsoft YaHei"/>
              <a:cs typeface="Aptos"/>
            </a:endParaRP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Oval 100"/>
          <p:cNvSpPr/>
          <p:nvPr/>
        </p:nvSpPr>
        <p:spPr>
          <a:xfrm>
            <a:off x="868680" y="178308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1"/>
          <p:cNvSpPr txBox="1"/>
          <p:nvPr/>
        </p:nvSpPr>
        <p:spPr>
          <a:xfrm>
            <a:off x="1234440" y="1627632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6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The replacement showcase first discovers this marker with dry-run.</a:t>
            </a:r>
          </a:p>
        </p:txBody>
      </p:sp>
      <p:sp>
        <p:nvSpPr>
          <p:cNvPr id="102" name="Background 102"/>
          <p:cNvSpPr/>
          <p:nvPr/>
        </p:nvSpPr>
        <p:spPr>
          <a:xfrm>
            <a:off x="822960" y="2496312"/>
            <a:ext cx="10515600" cy="15545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Oval 103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4"/>
          <p:cNvSpPr txBox="1"/>
          <p:nvPr/>
        </p:nvSpPr>
        <p:spPr>
          <a:xfrm>
            <a:off x="1234440" y="2560320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6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An unconfirmed write is refused.</a:t>
            </a:r>
          </a:p>
        </p:txBody>
      </p:sp>
      <p:sp>
        <p:nvSpPr>
          <p:cNvPr id="105" name="Background 105"/>
          <p:cNvSpPr/>
          <p:nvPr/>
        </p:nvSpPr>
        <p:spPr>
          <a:xfrm>
            <a:off x="822960" y="3429000"/>
            <a:ext cx="10515600" cy="15545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Oval 106"/>
          <p:cNvSpPr/>
          <p:nvPr/>
        </p:nvSpPr>
        <p:spPr>
          <a:xfrm>
            <a:off x="868680" y="364845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7"/>
          <p:cNvSpPr txBox="1"/>
          <p:nvPr/>
        </p:nvSpPr>
        <p:spPr>
          <a:xfrm>
            <a:off x="1234440" y="3493008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6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 confirmed write creates a byte-exact checkpoint.</a:t>
            </a:r>
          </a:p>
        </p:txBody>
      </p:sp>
      <p:sp>
        <p:nvSpPr>
          <p:cNvPr id="108" name="Background 108"/>
          <p:cNvSpPr/>
          <p:nvPr/>
        </p:nvSpPr>
        <p:spPr>
          <a:xfrm>
            <a:off x="822960" y="4361688"/>
            <a:ext cx="10515600" cy="15545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Oval 109"/>
          <p:cNvSpPr/>
          <p:nvPr/>
        </p:nvSpPr>
        <p:spPr>
          <a:xfrm>
            <a:off x="868680" y="4581144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10"/>
          <p:cNvSpPr txBox="1"/>
          <p:nvPr/>
        </p:nvSpPr>
        <p:spPr>
          <a:xfrm>
            <a:off x="1234440" y="4425696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65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A second dry-run proves 2026年度 is present.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9" name="GhostCircle 999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DC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4" descr="DCC-MCP 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5413248" y="1965960"/>
            <a:ext cx="1300277" cy="7315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4600" b="1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Built for agents. Verified by Office.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r>
              <a:rPr lang="zh-CN" sz="16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PowerPoint, Word and Excel through one governed automation contract.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1151</Words>
  <Application>Microsoft Office PowerPoint</Application>
  <PresentationFormat>宽屏</PresentationFormat>
  <Paragraphs>67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Hal Long</cp:lastModifiedBy>
  <cp:revision>1</cp:revision>
  <dcterms:modified xsi:type="dcterms:W3CDTF">2026-08-30T14:09:25Z</dcterms:modified>
</cp:coreProperties>
</file>