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4132637628a495c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58dd088c58f44fd6"/>
  </p:sldMasterIdLst>
  <p:sldIdLst>
    <p:sldId id="256" r:id="Rf6c91ad2b9564f53"/>
    <p:sldId id="257" r:id="R8a865a4d85b14506"/>
    <p:sldId id="258" r:id="Re2399f9ae1164c44"/>
    <p:sldId id="259" r:id="Rd7cb995854144f61"/>
    <p:sldId id="260" r:id="R54111a549e3f4fa8"/>
  </p:sldIdLst>
  <p:sldSz cx="12191695" cy="6858000" type="screen16x9"/>
  <p:notesSz cx="7772400" cy="10058400"/>
  <p:defaultTextStyle>
    <a:lvl1pPr>
      <a:defRPr sz="1800"/>
    </a:lvl1pPr>
    <a:lvl2pPr>
      <a:defRPr sz="1800"/>
    </a:lvl2pPr>
    <a:lvl3pPr>
      <a:defRPr sz="1800"/>
    </a:lvl3pPr>
    <a:lvl4pPr>
      <a:defRPr sz="1800"/>
    </a:lvl4pPr>
    <a:lvl5pPr>
      <a:defRPr sz="1800"/>
    </a:lvl5pPr>
    <a:lvl6pPr>
      <a:defRPr sz="1800"/>
    </a:lvl6pPr>
    <a:lvl7pPr>
      <a:defRPr sz="1800"/>
    </a:lvl7pPr>
    <a:lvl8pPr>
      <a:defRPr sz="1800"/>
    </a:lvl8pPr>
    <a:lvl9pPr>
      <a:defRPr sz="1800"/>
    </a:lvl9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slideMasters/slideMaster1.xml" Id="R58dd088c58f44fd6" /><Relationship Type="http://schemas.openxmlformats.org/officeDocument/2006/relationships/slide" Target="slides/slide1.xml" Id="Rf6c91ad2b9564f53" /><Relationship Type="http://schemas.openxmlformats.org/officeDocument/2006/relationships/slide" Target="slides/slide2.xml" Id="R8a865a4d85b14506" /><Relationship Type="http://schemas.openxmlformats.org/officeDocument/2006/relationships/slide" Target="slides/slide3.xml" Id="Re2399f9ae1164c44" /><Relationship Type="http://schemas.openxmlformats.org/officeDocument/2006/relationships/slide" Target="slides/slide4.xml" Id="Rd7cb995854144f61" /><Relationship Type="http://schemas.openxmlformats.org/officeDocument/2006/relationships/slide" Target="slides/slide5.xml" Id="R54111a549e3f4f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../theme/theme1.xml" Id="R1e8198d8ff8a4682" 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e6648a2331db4507" /><Relationship Type="http://schemas.openxmlformats.org/officeDocument/2006/relationships/slide" Target="../slides/slide1.xml" Id="Rd4154cd26b6140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4d059cc414cd4316" /><Relationship Type="http://schemas.openxmlformats.org/officeDocument/2006/relationships/slide" Target="../slides/slide2.xml" Id="R8dedc821bca945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80eb001dfced470f" /><Relationship Type="http://schemas.openxmlformats.org/officeDocument/2006/relationships/slide" Target="../slides/slide3.xml" Id="R3e3d0245c10143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eba40ce03cbb40f8" /><Relationship Type="http://schemas.openxmlformats.org/officeDocument/2006/relationships/slide" Target="../slides/slide4.xml" Id="R41bd714e4e9b44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../notesMasters/notesMaster1.xml" Id="Rdb3f4d440f394134" /><Relationship Type="http://schemas.openxmlformats.org/officeDocument/2006/relationships/slide" Target="../slides/slide5.xml" Id="R7df61d3c05894c2f" 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imagery in this deck was generated specifically for the public showcase.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image is a source asset, not a flattened screenshot of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demonstrates the image-left/text-right renderer.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grid embeds three independent source images as editable slide media.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96cc9b26869744e6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b0f6b37df13645ac" /><Relationship Type="http://schemas.openxmlformats.org/officeDocument/2006/relationships/theme" Target="../theme/theme1.xml" Id="R0ea29d170d964c9a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b0f6b37df13645ac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b4583670cc8d42fe" /><Relationship Type="http://schemas.openxmlformats.org/officeDocument/2006/relationships/notesSlide" Target="../notesSlides/notesSlide1.xml" Id="R95b81900c9c344b2" /><Relationship Type="http://schemas.openxmlformats.org/officeDocument/2006/relationships/image" Target="/ppt/media/image1.jpg" Id="R6e01675bf12d4eca" /><Relationship Type="http://schemas.openxmlformats.org/officeDocument/2006/relationships/image" Target="/ppt/media/logo-light.png" Id="R7e8e1bbe5fd141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2c2d1c4c7d93418e" /><Relationship Type="http://schemas.openxmlformats.org/officeDocument/2006/relationships/notesSlide" Target="../notesSlides/notesSlide2.xml" Id="Re693b5b699e34a3b" /><Relationship Type="http://schemas.openxmlformats.org/officeDocument/2006/relationships/image" Target="/ppt/media/image2.jpg" Id="R26c8c43fc9f549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0d38fab5a6ac4045" /><Relationship Type="http://schemas.openxmlformats.org/officeDocument/2006/relationships/notesSlide" Target="../notesSlides/notesSlide3.xml" Id="R77af142b763a4cc1" /><Relationship Type="http://schemas.openxmlformats.org/officeDocument/2006/relationships/image" Target="/ppt/media/image3.jpg" Id="R59679e839adb4b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93cef06923614b3f" /><Relationship Type="http://schemas.openxmlformats.org/officeDocument/2006/relationships/notesSlide" Target="../notesSlides/notesSlide4.xml" Id="R941c0871754f4995" /><Relationship Type="http://schemas.openxmlformats.org/officeDocument/2006/relationships/image" Target="/ppt/media/image4.jpg" Id="R7e2edb4c1c11420c" /><Relationship Type="http://schemas.openxmlformats.org/officeDocument/2006/relationships/image" Target="/ppt/media/image5.jpg" Id="R19e8d88b01b94b18" /><Relationship Type="http://schemas.openxmlformats.org/officeDocument/2006/relationships/image" Target="/ppt/media/image6.jpg" Id="Rc7cd6e220db744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52fff0f831eb41bb" /><Relationship Type="http://schemas.openxmlformats.org/officeDocument/2006/relationships/notesSlide" Target="../notesSlides/notesSlide5.xml" Id="R10b1cf46d0884071" /><Relationship Type="http://schemas.openxmlformats.org/officeDocument/2006/relationships/image" Target="/ppt/media/logo-light.png" Id="R339329a9998743cc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3" descr="Office automation,&#10;made visible."/>
          <p:cNvPicPr/>
          <p:nvPr/>
        </p:nvPicPr>
        <p:blipFill>
          <a:blip r:embed="R6e01675bf12d4eca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Background 4"/>
          <p:cNvSpPr/>
          <p:nvPr/>
        </p:nvSpPr>
        <p:spPr>
          <a:xfrm>
            <a:off x="0" y="0"/>
            <a:ext cx="5623560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Background 10"/>
          <p:cNvSpPr/>
          <p:nvPr/>
        </p:nvSpPr>
        <p:spPr>
          <a:xfrm>
            <a:off x="713232" y="1051560"/>
            <a:ext cx="91440" cy="4526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1" descr="DCC-MCP logo"/>
          <p:cNvPicPr/>
          <p:nvPr/>
        </p:nvPicPr>
        <p:blipFill>
          <a:blip r:embed="R7e8e1bbe5fd14169"/>
          <a:stretch>
            <a:fillRect/>
          </a:stretch>
        </p:blipFill>
        <p:spPr>
          <a:xfrm>
            <a:off x="914400" y="566928"/>
            <a:ext cx="731520" cy="41148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932688" y="1298448"/>
            <a:ext cx="4434840" cy="34747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200" b="1">
                <a:solidFill>
                  <a:srgbClr val="1D4ED8"/>
                </a:solidFill>
                <a:latin typeface="Aptos"/>
                <a:ea typeface="Microsoft YaHei"/>
                <a:cs typeface="Aptos"/>
              </a:rPr>
              <a:t>GOVERNED OFFICE AUTOMATION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1828800"/>
            <a:ext cx="4526280" cy="199339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5000" b="1">
                <a:solidFill>
                  <a:srgbClr val="101828"/>
                </a:solidFill>
                <a:latin typeface="Aptos Display"/>
                <a:ea typeface="Microsoft YaHei"/>
                <a:cs typeface="Aptos Display"/>
              </a:rPr>
              <a:t>Office automation,</a:t>
            </a:r>
          </a:p>
          <a:p algn="l">
            <a:r>
              <a:rPr lang="zh-CN" sz="5000" b="1">
                <a:solidFill>
                  <a:srgbClr val="101828"/>
                </a:solidFill>
                <a:latin typeface="Aptos Display"/>
                <a:ea typeface="Microsoft YaHei"/>
                <a:cs typeface="Aptos Display"/>
              </a:rPr>
              <a:t>made visible.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2688" y="4041648"/>
            <a:ext cx="4315968" cy="100584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800">
                <a:solidFill>
                  <a:srgbClr val="475467"/>
                </a:solidFill>
                <a:latin typeface="Aptos"/>
                <a:ea typeface="Microsoft YaHei"/>
                <a:cs typeface="Aptos"/>
              </a:rPr>
              <a:t>Original editorial assets, semantic layouts and native PowerPoint verification.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2688" y="6108192"/>
            <a:ext cx="4389120" cy="32004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050">
                <a:solidFill>
                  <a:srgbClr val="475467"/>
                </a:solidFill>
                <a:latin typeface="Aptos"/>
                <a:ea typeface="Microsoft YaHei"/>
                <a:cs typeface="Aptos"/>
              </a:rPr>
              <a:t>DCC-MCP Momentum Cobalt Office Visual Story  /  DCC-MCP Momentum Cobalt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310896"/>
            <a:ext cx="10515600" cy="98755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3600" b="1">
                <a:solidFill>
                  <a:srgbClr val="101828"/>
                </a:solidFill>
                <a:latin typeface="Aptos Display"/>
                <a:ea typeface="Microsoft YaHei"/>
                <a:cs typeface="Aptos Display"/>
              </a:rPr>
              <a:t>A governed pipeline turns intent into proof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353312"/>
            <a:ext cx="65836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ackground 8"/>
          <p:cNvSpPr/>
          <p:nvPr/>
        </p:nvSpPr>
        <p:spPr>
          <a:xfrm>
            <a:off x="1572768" y="1353312"/>
            <a:ext cx="9765792" cy="13716"/>
          </a:xfrm>
          <a:prstGeom prst="rect">
            <a:avLst/>
          </a:prstGeom>
          <a:solidFill>
            <a:srgbClr val="CBD8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00" name="Picture 700" descr="A governed pipeline turns intent into proof"/>
          <p:cNvPicPr/>
          <p:nvPr/>
        </p:nvPicPr>
        <p:blipFill>
          <a:blip r:embed="R26c8c43fc9f54987"/>
          <a:stretch>
            <a:fillRect/>
          </a:stretch>
        </p:blipFill>
        <p:spPr>
          <a:xfrm>
            <a:off x="822960" y="1627632"/>
            <a:ext cx="6537960" cy="4407408"/>
          </a:xfrm>
          <a:prstGeom prst="rect">
            <a:avLst/>
          </a:prstGeom>
        </p:spPr>
      </p:pic>
      <p:sp>
        <p:nvSpPr>
          <p:cNvPr id="701" name="TextBox 701"/>
          <p:cNvSpPr txBox="1"/>
          <p:nvPr/>
        </p:nvSpPr>
        <p:spPr>
          <a:xfrm>
            <a:off x="7680960" y="1755648"/>
            <a:ext cx="603504" cy="43891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800" b="1">
                <a:solidFill>
                  <a:srgbClr val="1D4ED8"/>
                </a:solidFill>
                <a:latin typeface="Aptos Display"/>
                <a:ea typeface="Microsoft YaHei"/>
                <a:cs typeface="Aptos Display"/>
              </a:rPr>
              <a:t>01</a:t>
            </a:r>
          </a:p>
        </p:txBody>
      </p:sp>
      <p:sp>
        <p:nvSpPr>
          <p:cNvPr id="702" name="TextBox 702"/>
          <p:cNvSpPr txBox="1"/>
          <p:nvPr/>
        </p:nvSpPr>
        <p:spPr>
          <a:xfrm>
            <a:off x="8394192" y="1737360"/>
            <a:ext cx="2880360" cy="82296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101828"/>
                </a:solidFill>
                <a:latin typeface="Aptos"/>
                <a:ea typeface="Microsoft YaHei"/>
                <a:cs typeface="Aptos"/>
              </a:rPr>
              <a:t>One versioned Presentation IR enters the pipeline</a:t>
            </a:r>
          </a:p>
        </p:txBody>
      </p:sp>
      <p:sp>
        <p:nvSpPr>
          <p:cNvPr id="703" name="Background 703"/>
          <p:cNvSpPr/>
          <p:nvPr/>
        </p:nvSpPr>
        <p:spPr>
          <a:xfrm>
            <a:off x="7680960" y="2615184"/>
            <a:ext cx="3584448" cy="13716"/>
          </a:xfrm>
          <a:prstGeom prst="rect">
            <a:avLst/>
          </a:prstGeom>
          <a:solidFill>
            <a:srgbClr val="CBD8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4" name="TextBox 704"/>
          <p:cNvSpPr txBox="1"/>
          <p:nvPr/>
        </p:nvSpPr>
        <p:spPr>
          <a:xfrm>
            <a:off x="7680960" y="2779776"/>
            <a:ext cx="603504" cy="43891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800" b="1">
                <a:solidFill>
                  <a:srgbClr val="0891B2"/>
                </a:solidFill>
                <a:latin typeface="Aptos Display"/>
                <a:ea typeface="Microsoft YaHei"/>
                <a:cs typeface="Aptos Display"/>
              </a:rPr>
              <a:t>02</a:t>
            </a:r>
          </a:p>
        </p:txBody>
      </p:sp>
      <p:sp>
        <p:nvSpPr>
          <p:cNvPr id="705" name="TextBox 705"/>
          <p:cNvSpPr txBox="1"/>
          <p:nvPr/>
        </p:nvSpPr>
        <p:spPr>
          <a:xfrm>
            <a:off x="8394192" y="2761488"/>
            <a:ext cx="2880360" cy="82296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101828"/>
                </a:solidFill>
                <a:latin typeface="Aptos"/>
                <a:ea typeface="Microsoft YaHei"/>
                <a:cs typeface="Aptos"/>
              </a:rPr>
              <a:t>A registered brand package resolves every semantic layout</a:t>
            </a:r>
          </a:p>
        </p:txBody>
      </p:sp>
      <p:sp>
        <p:nvSpPr>
          <p:cNvPr id="706" name="Background 706"/>
          <p:cNvSpPr/>
          <p:nvPr/>
        </p:nvSpPr>
        <p:spPr>
          <a:xfrm>
            <a:off x="7680960" y="3639312"/>
            <a:ext cx="3584448" cy="13716"/>
          </a:xfrm>
          <a:prstGeom prst="rect">
            <a:avLst/>
          </a:prstGeom>
          <a:solidFill>
            <a:srgbClr val="CBD8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7" name="TextBox 707"/>
          <p:cNvSpPr txBox="1"/>
          <p:nvPr/>
        </p:nvSpPr>
        <p:spPr>
          <a:xfrm>
            <a:off x="7680960" y="3803904"/>
            <a:ext cx="603504" cy="43891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800" b="1">
                <a:solidFill>
                  <a:srgbClr val="1D4ED8"/>
                </a:solidFill>
                <a:latin typeface="Aptos Display"/>
                <a:ea typeface="Microsoft YaHei"/>
                <a:cs typeface="Aptos Display"/>
              </a:rPr>
              <a:t>03</a:t>
            </a:r>
          </a:p>
        </p:txBody>
      </p:sp>
      <p:sp>
        <p:nvSpPr>
          <p:cNvPr id="708" name="TextBox 708"/>
          <p:cNvSpPr txBox="1"/>
          <p:nvPr/>
        </p:nvSpPr>
        <p:spPr>
          <a:xfrm>
            <a:off x="8394192" y="3785616"/>
            <a:ext cx="2880360" cy="82296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101828"/>
                </a:solidFill>
                <a:latin typeface="Aptos"/>
                <a:ea typeface="Microsoft YaHei"/>
                <a:cs typeface="Aptos"/>
              </a:rPr>
              <a:t>The Office host enforces policy before native execution</a:t>
            </a:r>
          </a:p>
        </p:txBody>
      </p:sp>
      <p:sp>
        <p:nvSpPr>
          <p:cNvPr id="709" name="Background 709"/>
          <p:cNvSpPr/>
          <p:nvPr/>
        </p:nvSpPr>
        <p:spPr>
          <a:xfrm>
            <a:off x="7680960" y="4663440"/>
            <a:ext cx="3584448" cy="13716"/>
          </a:xfrm>
          <a:prstGeom prst="rect">
            <a:avLst/>
          </a:prstGeom>
          <a:solidFill>
            <a:srgbClr val="CBD8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0" name="TextBox 710"/>
          <p:cNvSpPr txBox="1"/>
          <p:nvPr/>
        </p:nvSpPr>
        <p:spPr>
          <a:xfrm>
            <a:off x="7680960" y="4828032"/>
            <a:ext cx="603504" cy="43891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800" b="1">
                <a:solidFill>
                  <a:srgbClr val="0891B2"/>
                </a:solidFill>
                <a:latin typeface="Aptos Display"/>
                <a:ea typeface="Microsoft YaHei"/>
                <a:cs typeface="Aptos Display"/>
              </a:rPr>
              <a:t>04</a:t>
            </a:r>
          </a:p>
        </p:txBody>
      </p:sp>
      <p:sp>
        <p:nvSpPr>
          <p:cNvPr id="711" name="TextBox 711"/>
          <p:cNvSpPr txBox="1"/>
          <p:nvPr/>
        </p:nvSpPr>
        <p:spPr>
          <a:xfrm>
            <a:off x="8394192" y="4809744"/>
            <a:ext cx="2880360" cy="82296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101828"/>
                </a:solidFill>
                <a:latin typeface="Aptos"/>
                <a:ea typeface="Microsoft YaHei"/>
                <a:cs typeface="Aptos"/>
              </a:rPr>
              <a:t>Editable artifacts, previews and checksums leave together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310896"/>
            <a:ext cx="10515600" cy="98755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3600" b="1">
                <a:solidFill>
                  <a:srgbClr val="101828"/>
                </a:solidFill>
                <a:latin typeface="Aptos Display"/>
                <a:ea typeface="Microsoft YaHei"/>
                <a:cs typeface="Aptos Display"/>
              </a:rPr>
              <a:t>The agent composes with a real visual system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353312"/>
            <a:ext cx="65836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ackground 8"/>
          <p:cNvSpPr/>
          <p:nvPr/>
        </p:nvSpPr>
        <p:spPr>
          <a:xfrm>
            <a:off x="1572768" y="1353312"/>
            <a:ext cx="9765792" cy="13716"/>
          </a:xfrm>
          <a:prstGeom prst="rect">
            <a:avLst/>
          </a:prstGeom>
          <a:solidFill>
            <a:srgbClr val="CBD8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00" name="Picture 700" descr="The agent composes with a real visual system"/>
          <p:cNvPicPr/>
          <p:nvPr/>
        </p:nvPicPr>
        <p:blipFill>
          <a:blip r:embed="R59679e839adb4b08"/>
          <a:stretch>
            <a:fillRect/>
          </a:stretch>
        </p:blipFill>
        <p:spPr>
          <a:xfrm>
            <a:off x="822960" y="1627632"/>
            <a:ext cx="6537960" cy="4407408"/>
          </a:xfrm>
          <a:prstGeom prst="rect">
            <a:avLst/>
          </a:prstGeom>
        </p:spPr>
      </p:pic>
      <p:sp>
        <p:nvSpPr>
          <p:cNvPr id="701" name="TextBox 701"/>
          <p:cNvSpPr txBox="1"/>
          <p:nvPr/>
        </p:nvSpPr>
        <p:spPr>
          <a:xfrm>
            <a:off x="7680960" y="1755648"/>
            <a:ext cx="603504" cy="43891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800" b="1">
                <a:solidFill>
                  <a:srgbClr val="1D4ED8"/>
                </a:solidFill>
                <a:latin typeface="Aptos Display"/>
                <a:ea typeface="Microsoft YaHei"/>
                <a:cs typeface="Aptos Display"/>
              </a:rPr>
              <a:t>01</a:t>
            </a:r>
          </a:p>
        </p:txBody>
      </p:sp>
      <p:sp>
        <p:nvSpPr>
          <p:cNvPr id="702" name="TextBox 702"/>
          <p:cNvSpPr txBox="1"/>
          <p:nvPr/>
        </p:nvSpPr>
        <p:spPr>
          <a:xfrm>
            <a:off x="8394192" y="1737360"/>
            <a:ext cx="2880360" cy="82296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101828"/>
                </a:solidFill>
                <a:latin typeface="Aptos"/>
                <a:ea typeface="Microsoft YaHei"/>
                <a:cs typeface="Aptos"/>
              </a:rPr>
              <a:t>Color and typography stay in versioned brand packages</a:t>
            </a:r>
          </a:p>
        </p:txBody>
      </p:sp>
      <p:sp>
        <p:nvSpPr>
          <p:cNvPr id="703" name="Background 703"/>
          <p:cNvSpPr/>
          <p:nvPr/>
        </p:nvSpPr>
        <p:spPr>
          <a:xfrm>
            <a:off x="7680960" y="2615184"/>
            <a:ext cx="3584448" cy="13716"/>
          </a:xfrm>
          <a:prstGeom prst="rect">
            <a:avLst/>
          </a:prstGeom>
          <a:solidFill>
            <a:srgbClr val="CBD8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4" name="TextBox 704"/>
          <p:cNvSpPr txBox="1"/>
          <p:nvPr/>
        </p:nvSpPr>
        <p:spPr>
          <a:xfrm>
            <a:off x="7680960" y="2779776"/>
            <a:ext cx="603504" cy="43891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800" b="1">
                <a:solidFill>
                  <a:srgbClr val="0891B2"/>
                </a:solidFill>
                <a:latin typeface="Aptos Display"/>
                <a:ea typeface="Microsoft YaHei"/>
                <a:cs typeface="Aptos Display"/>
              </a:rPr>
              <a:t>02</a:t>
            </a:r>
          </a:p>
        </p:txBody>
      </p:sp>
      <p:sp>
        <p:nvSpPr>
          <p:cNvPr id="705" name="TextBox 705"/>
          <p:cNvSpPr txBox="1"/>
          <p:nvPr/>
        </p:nvSpPr>
        <p:spPr>
          <a:xfrm>
            <a:off x="8394192" y="2761488"/>
            <a:ext cx="2880360" cy="82296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101828"/>
                </a:solidFill>
                <a:latin typeface="Aptos"/>
                <a:ea typeface="Microsoft YaHei"/>
                <a:cs typeface="Aptos"/>
              </a:rPr>
              <a:t>Layout intent stays semantic instead of coordinate-heavy</a:t>
            </a:r>
          </a:p>
        </p:txBody>
      </p:sp>
      <p:sp>
        <p:nvSpPr>
          <p:cNvPr id="706" name="Background 706"/>
          <p:cNvSpPr/>
          <p:nvPr/>
        </p:nvSpPr>
        <p:spPr>
          <a:xfrm>
            <a:off x="7680960" y="3639312"/>
            <a:ext cx="3584448" cy="13716"/>
          </a:xfrm>
          <a:prstGeom prst="rect">
            <a:avLst/>
          </a:prstGeom>
          <a:solidFill>
            <a:srgbClr val="CBD8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7" name="TextBox 707"/>
          <p:cNvSpPr txBox="1"/>
          <p:nvPr/>
        </p:nvSpPr>
        <p:spPr>
          <a:xfrm>
            <a:off x="7680960" y="3803904"/>
            <a:ext cx="603504" cy="43891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800" b="1">
                <a:solidFill>
                  <a:srgbClr val="1D4ED8"/>
                </a:solidFill>
                <a:latin typeface="Aptos Display"/>
                <a:ea typeface="Microsoft YaHei"/>
                <a:cs typeface="Aptos Display"/>
              </a:rPr>
              <a:t>03</a:t>
            </a:r>
          </a:p>
        </p:txBody>
      </p:sp>
      <p:sp>
        <p:nvSpPr>
          <p:cNvPr id="708" name="TextBox 708"/>
          <p:cNvSpPr txBox="1"/>
          <p:nvPr/>
        </p:nvSpPr>
        <p:spPr>
          <a:xfrm>
            <a:off x="8394192" y="3785616"/>
            <a:ext cx="2880360" cy="82296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101828"/>
                </a:solidFill>
                <a:latin typeface="Aptos"/>
                <a:ea typeface="Microsoft YaHei"/>
                <a:cs typeface="Aptos"/>
              </a:rPr>
              <a:t>Generated assets are reusable inputs with their own hashes</a:t>
            </a:r>
          </a:p>
        </p:txBody>
      </p:sp>
      <p:sp>
        <p:nvSpPr>
          <p:cNvPr id="709" name="Background 709"/>
          <p:cNvSpPr/>
          <p:nvPr/>
        </p:nvSpPr>
        <p:spPr>
          <a:xfrm>
            <a:off x="7680960" y="4663440"/>
            <a:ext cx="3584448" cy="13716"/>
          </a:xfrm>
          <a:prstGeom prst="rect">
            <a:avLst/>
          </a:prstGeom>
          <a:solidFill>
            <a:srgbClr val="CBD8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0" name="TextBox 710"/>
          <p:cNvSpPr txBox="1"/>
          <p:nvPr/>
        </p:nvSpPr>
        <p:spPr>
          <a:xfrm>
            <a:off x="7680960" y="4828032"/>
            <a:ext cx="603504" cy="43891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800" b="1">
                <a:solidFill>
                  <a:srgbClr val="0891B2"/>
                </a:solidFill>
                <a:latin typeface="Aptos Display"/>
                <a:ea typeface="Microsoft YaHei"/>
                <a:cs typeface="Aptos Display"/>
              </a:rPr>
              <a:t>04</a:t>
            </a:r>
          </a:p>
        </p:txBody>
      </p:sp>
      <p:sp>
        <p:nvSpPr>
          <p:cNvPr id="711" name="TextBox 711"/>
          <p:cNvSpPr txBox="1"/>
          <p:nvPr/>
        </p:nvSpPr>
        <p:spPr>
          <a:xfrm>
            <a:off x="8394192" y="4809744"/>
            <a:ext cx="2880360" cy="82296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600">
                <a:solidFill>
                  <a:srgbClr val="101828"/>
                </a:solidFill>
                <a:latin typeface="Aptos"/>
                <a:ea typeface="Microsoft YaHei"/>
                <a:cs typeface="Aptos"/>
              </a:rPr>
              <a:t>PowerPoint remains the final fidelity judge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6"/>
          <p:cNvSpPr txBox="1"/>
          <p:nvPr/>
        </p:nvSpPr>
        <p:spPr>
          <a:xfrm>
            <a:off x="822960" y="310896"/>
            <a:ext cx="10515600" cy="987552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3600" b="1">
                <a:solidFill>
                  <a:srgbClr val="101828"/>
                </a:solidFill>
                <a:latin typeface="Aptos Display"/>
                <a:ea typeface="Microsoft YaHei"/>
                <a:cs typeface="Aptos Display"/>
              </a:rPr>
              <a:t>Different artifacts, one evidence standard</a:t>
            </a:r>
          </a:p>
        </p:txBody>
      </p:sp>
      <p:sp>
        <p:nvSpPr>
          <p:cNvPr id="7" name="Background 7"/>
          <p:cNvSpPr/>
          <p:nvPr/>
        </p:nvSpPr>
        <p:spPr>
          <a:xfrm>
            <a:off x="822960" y="1353312"/>
            <a:ext cx="65836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ackground 8"/>
          <p:cNvSpPr/>
          <p:nvPr/>
        </p:nvSpPr>
        <p:spPr>
          <a:xfrm>
            <a:off x="1572768" y="1353312"/>
            <a:ext cx="9765792" cy="13716"/>
          </a:xfrm>
          <a:prstGeom prst="rect">
            <a:avLst/>
          </a:prstGeom>
          <a:solidFill>
            <a:srgbClr val="CBD8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0" name="Background 800"/>
          <p:cNvSpPr/>
          <p:nvPr/>
        </p:nvSpPr>
        <p:spPr>
          <a:xfrm>
            <a:off x="822960" y="1627632"/>
            <a:ext cx="6720840" cy="4462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01" name="Picture 801" descr="Verified output"/>
          <p:cNvPicPr/>
          <p:nvPr/>
        </p:nvPicPr>
        <p:blipFill>
          <a:blip r:embed="R7e2edb4c1c11420c"/>
          <a:stretch>
            <a:fillRect/>
          </a:stretch>
        </p:blipFill>
        <p:spPr>
          <a:xfrm>
            <a:off x="822960" y="1627632"/>
            <a:ext cx="6720840" cy="4462272"/>
          </a:xfrm>
          <a:prstGeom prst="rect">
            <a:avLst/>
          </a:prstGeom>
        </p:spPr>
      </p:pic>
      <p:sp>
        <p:nvSpPr>
          <p:cNvPr id="802" name="Background 802"/>
          <p:cNvSpPr/>
          <p:nvPr/>
        </p:nvSpPr>
        <p:spPr>
          <a:xfrm>
            <a:off x="987552" y="5650992"/>
            <a:ext cx="2514600" cy="274320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3" name="TextBox 803"/>
          <p:cNvSpPr txBox="1"/>
          <p:nvPr/>
        </p:nvSpPr>
        <p:spPr>
          <a:xfrm>
            <a:off x="1097280" y="5696712"/>
            <a:ext cx="2286000" cy="219456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050" b="1">
                <a:solidFill>
                  <a:srgbClr val="101828"/>
                </a:solidFill>
                <a:latin typeface="Aptos"/>
                <a:ea typeface="Microsoft YaHei"/>
                <a:cs typeface="Aptos"/>
              </a:rPr>
              <a:t>Verified output</a:t>
            </a:r>
          </a:p>
        </p:txBody>
      </p:sp>
      <p:sp>
        <p:nvSpPr>
          <p:cNvPr id="810" name="Background 810"/>
          <p:cNvSpPr/>
          <p:nvPr/>
        </p:nvSpPr>
        <p:spPr>
          <a:xfrm>
            <a:off x="7818120" y="1627632"/>
            <a:ext cx="3520440" cy="2084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11" name="Picture 811" descr="Executive evidence"/>
          <p:cNvPicPr/>
          <p:nvPr/>
        </p:nvPicPr>
        <p:blipFill>
          <a:blip r:embed="R19e8d88b01b94b18"/>
          <a:stretch>
            <a:fillRect/>
          </a:stretch>
        </p:blipFill>
        <p:spPr>
          <a:xfrm>
            <a:off x="7818120" y="1627632"/>
            <a:ext cx="3520440" cy="2084832"/>
          </a:xfrm>
          <a:prstGeom prst="rect">
            <a:avLst/>
          </a:prstGeom>
        </p:spPr>
      </p:pic>
      <p:sp>
        <p:nvSpPr>
          <p:cNvPr id="812" name="Background 812"/>
          <p:cNvSpPr/>
          <p:nvPr/>
        </p:nvSpPr>
        <p:spPr>
          <a:xfrm>
            <a:off x="7982712" y="3273552"/>
            <a:ext cx="2514600" cy="274320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3" name="TextBox 813"/>
          <p:cNvSpPr txBox="1"/>
          <p:nvPr/>
        </p:nvSpPr>
        <p:spPr>
          <a:xfrm>
            <a:off x="8092440" y="3319272"/>
            <a:ext cx="2286000" cy="219456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050" b="1">
                <a:solidFill>
                  <a:srgbClr val="101828"/>
                </a:solidFill>
                <a:latin typeface="Aptos"/>
                <a:ea typeface="Microsoft YaHei"/>
                <a:cs typeface="Aptos"/>
              </a:rPr>
              <a:t>Executive evidence</a:t>
            </a:r>
          </a:p>
        </p:txBody>
      </p:sp>
      <p:sp>
        <p:nvSpPr>
          <p:cNvPr id="820" name="Background 820"/>
          <p:cNvSpPr/>
          <p:nvPr/>
        </p:nvSpPr>
        <p:spPr>
          <a:xfrm>
            <a:off x="7818120" y="3950208"/>
            <a:ext cx="3520440" cy="21396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21" name="Picture 821" descr="Measured capability"/>
          <p:cNvPicPr/>
          <p:nvPr/>
        </p:nvPicPr>
        <p:blipFill>
          <a:blip r:embed="Rc7cd6e220db7448d"/>
          <a:stretch>
            <a:fillRect/>
          </a:stretch>
        </p:blipFill>
        <p:spPr>
          <a:xfrm>
            <a:off x="7818120" y="3950208"/>
            <a:ext cx="3520440" cy="2139696"/>
          </a:xfrm>
          <a:prstGeom prst="rect">
            <a:avLst/>
          </a:prstGeom>
        </p:spPr>
      </p:pic>
      <p:sp>
        <p:nvSpPr>
          <p:cNvPr id="822" name="Background 822"/>
          <p:cNvSpPr/>
          <p:nvPr/>
        </p:nvSpPr>
        <p:spPr>
          <a:xfrm>
            <a:off x="7982712" y="5650992"/>
            <a:ext cx="2514600" cy="274320"/>
          </a:xfrm>
          <a:prstGeom prst="rect">
            <a:avLst/>
          </a:prstGeom>
          <a:solidFill>
            <a:srgbClr val="E8EE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3" name="TextBox 823"/>
          <p:cNvSpPr txBox="1"/>
          <p:nvPr/>
        </p:nvSpPr>
        <p:spPr>
          <a:xfrm>
            <a:off x="8092440" y="5696712"/>
            <a:ext cx="2286000" cy="219456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050" b="1">
                <a:solidFill>
                  <a:srgbClr val="101828"/>
                </a:solidFill>
                <a:latin typeface="Aptos"/>
                <a:ea typeface="Microsoft YaHei"/>
                <a:cs typeface="Aptos"/>
              </a:rPr>
              <a:t>Measured capability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ackground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9" name="GhostCircle 999"/>
          <p:cNvSpPr/>
          <p:nvPr/>
        </p:nvSpPr>
        <p:spPr>
          <a:xfrm>
            <a:off x="320040" y="320040"/>
            <a:ext cx="2651760" cy="2651760"/>
          </a:xfrm>
          <a:prstGeom prst="ellipse">
            <a:avLst/>
          </a:prstGeom>
          <a:solidFill>
            <a:srgbClr val="CBD8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4" descr="DCC-MCP logo"/>
          <p:cNvPicPr/>
          <p:nvPr/>
        </p:nvPicPr>
        <p:blipFill>
          <a:blip r:embed="R339329a9998743cc"/>
          <a:stretch>
            <a:fillRect/>
          </a:stretch>
        </p:blipFill>
        <p:spPr>
          <a:xfrm>
            <a:off x="10104120" y="530352"/>
            <a:ext cx="1024128" cy="576072"/>
          </a:xfrm>
          <a:prstGeom prst="rect">
            <a:avLst/>
          </a:prstGeom>
        </p:spPr>
      </p:pic>
      <p:sp>
        <p:nvSpPr>
          <p:cNvPr id="10" name="Background 10"/>
          <p:cNvSpPr/>
          <p:nvPr/>
        </p:nvSpPr>
        <p:spPr>
          <a:xfrm>
            <a:off x="777240" y="1325880"/>
            <a:ext cx="109728" cy="42519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1143000" y="2331720"/>
            <a:ext cx="9829800" cy="13716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5200" b="1">
                <a:solidFill>
                  <a:srgbClr val="101828"/>
                </a:solidFill>
                <a:latin typeface="Aptos Display"/>
                <a:ea typeface="Microsoft YaHei"/>
                <a:cs typeface="Aptos Display"/>
              </a:rPr>
              <a:t>Design boldly.</a:t>
            </a:r>
          </a:p>
          <a:p algn="l">
            <a:r>
              <a:rPr lang="zh-CN" sz="5200" b="1">
                <a:solidFill>
                  <a:srgbClr val="101828"/>
                </a:solidFill>
                <a:latin typeface="Aptos Display"/>
                <a:ea typeface="Microsoft YaHei"/>
                <a:cs typeface="Aptos Display"/>
              </a:rPr>
              <a:t>Verify natively.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70432" y="4005072"/>
            <a:ext cx="8046720" cy="77724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/>
          <a:lstStyle/>
          <a:p algn="l">
            <a:r>
              <a:rPr lang="zh-CN" sz="1900">
                <a:solidFill>
                  <a:srgbClr val="475467"/>
                </a:solidFill>
                <a:latin typeface="Aptos"/>
                <a:ea typeface="Microsoft YaHei"/>
                <a:cs typeface="Aptos"/>
              </a:rPr>
              <a:t>A practical visual feedback loop for an Office agent that can prove its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