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png" ContentType="image/png"/>
  <Default Extension="jpg" ContentType="image/jpeg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293c037a357049eb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24f733c8e0534e1a"/>
  </p:sldMasterIdLst>
  <p:sldIdLst>
    <p:sldId id="256" r:id="R694b7a329028475e"/>
    <p:sldId id="257" r:id="Rb7cecc2c56524e67"/>
    <p:sldId id="258" r:id="R05b60cc136b04e27"/>
    <p:sldId id="259" r:id="Rdca18ffb1f444f3a"/>
  </p:sldIdLst>
  <p:sldSz cx="12191695" cy="6858000" type="screen16x9"/>
  <p:notesSz cx="7772400" cy="10058400"/>
  <p:defaultTextStyle>
    <a:lvl1pPr>
      <a:defRPr sz="1800"/>
    </a:lvl1pPr>
    <a:lvl2pPr>
      <a:defRPr sz="1800"/>
    </a:lvl2pPr>
    <a:lvl3pPr>
      <a:defRPr sz="1800"/>
    </a:lvl3pPr>
    <a:lvl4pPr>
      <a:defRPr sz="1800"/>
    </a:lvl4pPr>
    <a:lvl5pPr>
      <a:defRPr sz="1800"/>
    </a:lvl5pPr>
    <a:lvl6pPr>
      <a:defRPr sz="1800"/>
    </a:lvl6pPr>
    <a:lvl7pPr>
      <a:defRPr sz="1800"/>
    </a:lvl7pPr>
    <a:lvl8pPr>
      <a:defRPr sz="1800"/>
    </a:lvl8pPr>
    <a:lvl9pPr>
      <a:defRPr sz="1800"/>
    </a:lvl9pPr>
  </p:defaultTextStyle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slideMasters/slideMaster1.xml" Id="R24f733c8e0534e1a" /><Relationship Type="http://schemas.openxmlformats.org/officeDocument/2006/relationships/slide" Target="slides/slide1.xml" Id="R694b7a329028475e" /><Relationship Type="http://schemas.openxmlformats.org/officeDocument/2006/relationships/slide" Target="slides/slide2.xml" Id="Rb7cecc2c56524e67" /><Relationship Type="http://schemas.openxmlformats.org/officeDocument/2006/relationships/slide" Target="slides/slide3.xml" Id="R05b60cc136b04e27" /><Relationship Type="http://schemas.openxmlformats.org/officeDocument/2006/relationships/slide" Target="slides/slide4.xml" Id="Rdca18ffb1f444f3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../theme/theme1.xml" Id="Rc1a8f8e2fa614110" 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notesMaster" Target="../notesMasters/notesMaster1.xml" Id="R036949b9fa3a468f" /><Relationship Type="http://schemas.openxmlformats.org/officeDocument/2006/relationships/slide" Target="../slides/slide1.xml" Id="R638beacf737c44f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notesMaster" Target="../notesMasters/notesMaster1.xml" Id="Read84c110de14a02" /><Relationship Type="http://schemas.openxmlformats.org/officeDocument/2006/relationships/slide" Target="../slides/slide2.xml" Id="R110b33baa0cd4a7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notesMaster" Target="../notesMasters/notesMaster1.xml" Id="Re5ef0fab08704138" /><Relationship Type="http://schemas.openxmlformats.org/officeDocument/2006/relationships/slide" Target="../slides/slide3.xml" Id="Rd689a1a78dc246f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notesMaster" Target="../notesMasters/notesMaster1.xml" Id="R33a5404599134bcb" /><Relationship Type="http://schemas.openxmlformats.org/officeDocument/2006/relationships/slide" Target="../slides/slide4.xml" Id="R7297dee35ec441f7" 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controlled comparison: only the template package changes.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Numbers are drawn from the same verified showcase capture.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Brand packages are validated before they are advertised.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Deterministic gates come before learned aesthetic preference.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../slideMasters/slideMaster1.xml" Id="R605e377f54ac4fc4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../slideLayouts/slideLayout1.xml" Id="Rcc9f993b8aca475f" /><Relationship Type="http://schemas.openxmlformats.org/officeDocument/2006/relationships/theme" Target="../theme/theme1.xml" Id="R8b3e2f3f29294b05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cc9f993b8aca475f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../slideLayouts/slideLayout1.xml" Id="Rbbf761069c3f4dce" /><Relationship Type="http://schemas.openxmlformats.org/officeDocument/2006/relationships/notesSlide" Target="../notesSlides/notesSlide1.xml" Id="R36ac92a31ede4389" /><Relationship Type="http://schemas.openxmlformats.org/officeDocument/2006/relationships/image" Target="/ppt/media/image1.jpg" Id="R20c3ab94c7ae48c6" /><Relationship Type="http://schemas.openxmlformats.org/officeDocument/2006/relationships/image" Target="/ppt/media/logo-light.png" Id="R032e96f8a6a74c3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../slideLayouts/slideLayout1.xml" Id="R9a8c1fa155e94a20" /><Relationship Type="http://schemas.openxmlformats.org/officeDocument/2006/relationships/notesSlide" Target="../notesSlides/notesSlide2.xml" Id="R83cba9616340406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../slideLayouts/slideLayout1.xml" Id="Rec32ca0fc6a94d32" /><Relationship Type="http://schemas.openxmlformats.org/officeDocument/2006/relationships/notesSlide" Target="../notesSlides/notesSlide3.xml" Id="R05c4fe233c6e4cc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../slideLayouts/slideLayout1.xml" Id="Rebfd36718d1f4af4" /><Relationship Type="http://schemas.openxmlformats.org/officeDocument/2006/relationships/notesSlide" Target="../notesSlides/notesSlide4.xml" Id="R8c632f03f4dd4c58" /><Relationship Type="http://schemas.openxmlformats.org/officeDocument/2006/relationships/image" Target="/ppt/media/logo-light.png" Id="Rfdcafe4556ac4f36" 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Picture 3" descr="One story.&#10;Three brand directions."/>
          <p:cNvPicPr/>
          <p:nvPr/>
        </p:nvPicPr>
        <p:blipFill>
          <a:blip r:embed="R20c3ab94c7ae48c6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Background 4"/>
          <p:cNvSpPr/>
          <p:nvPr/>
        </p:nvSpPr>
        <p:spPr>
          <a:xfrm>
            <a:off x="0" y="0"/>
            <a:ext cx="5623560" cy="6858000"/>
          </a:xfrm>
          <a:prstGeom prst="rect">
            <a:avLst/>
          </a:prstGeom>
          <a:solidFill>
            <a:srgbClr val="F8F7FC"/>
          </a:solidFill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Background 10"/>
          <p:cNvSpPr/>
          <p:nvPr/>
        </p:nvSpPr>
        <p:spPr>
          <a:xfrm>
            <a:off x="713232" y="1051560"/>
            <a:ext cx="91440" cy="45262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1" name="Picture 11" descr="DCC-MCP logo"/>
          <p:cNvPicPr/>
          <p:nvPr/>
        </p:nvPicPr>
        <p:blipFill>
          <a:blip r:embed="R032e96f8a6a74c37"/>
          <a:stretch>
            <a:fillRect/>
          </a:stretch>
        </p:blipFill>
        <p:spPr>
          <a:xfrm>
            <a:off x="914400" y="566928"/>
            <a:ext cx="731520" cy="411480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932688" y="1298448"/>
            <a:ext cx="4434840" cy="347472"/>
          </a:xfrm>
          <a:prstGeom prst="rect">
            <a:avLst/>
          </a:prstGeom>
          <a:noFill/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/>
          <a:lstStyle/>
          <a:p algn="l">
            <a:r>
              <a:rPr lang="zh-CN" sz="1200" b="1">
                <a:solidFill>
                  <a:srgbClr val="7C3AED"/>
                </a:solidFill>
                <a:latin typeface="Aptos"/>
                <a:ea typeface="Microsoft YaHei"/>
                <a:cs typeface="Aptos"/>
              </a:rPr>
              <a:t>GOVERNED OFFICE AUTOMATION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14400" y="1828800"/>
            <a:ext cx="4526280" cy="1993392"/>
          </a:xfrm>
          <a:prstGeom prst="rect">
            <a:avLst/>
          </a:prstGeom>
          <a:noFill/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/>
          <a:lstStyle/>
          <a:p algn="l">
            <a:r>
              <a:rPr lang="zh-CN" sz="5000" b="1">
                <a:solidFill>
                  <a:srgbClr val="211A35"/>
                </a:solidFill>
                <a:latin typeface="Aptos Display"/>
                <a:ea typeface="Microsoft YaHei"/>
                <a:cs typeface="Aptos Display"/>
              </a:rPr>
              <a:t>One story.</a:t>
            </a:r>
          </a:p>
          <a:p algn="l">
            <a:r>
              <a:rPr lang="zh-CN" sz="5000" b="1">
                <a:solidFill>
                  <a:srgbClr val="211A35"/>
                </a:solidFill>
                <a:latin typeface="Aptos Display"/>
                <a:ea typeface="Microsoft YaHei"/>
                <a:cs typeface="Aptos Display"/>
              </a:rPr>
              <a:t>Three brand directions.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32688" y="4041648"/>
            <a:ext cx="4315968" cy="1005840"/>
          </a:xfrm>
          <a:prstGeom prst="rect">
            <a:avLst/>
          </a:prstGeom>
          <a:noFill/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/>
          <a:lstStyle/>
          <a:p algn="l">
            <a:r>
              <a:rPr lang="zh-CN" sz="1800">
                <a:solidFill>
                  <a:srgbClr val="675E7D"/>
                </a:solidFill>
                <a:latin typeface="Aptos"/>
                <a:ea typeface="Microsoft YaHei"/>
                <a:cs typeface="Aptos"/>
              </a:rPr>
              <a:t>One semantic story, compiled through three project-owned visual systems.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32688" y="6108192"/>
            <a:ext cx="4389120" cy="320040"/>
          </a:xfrm>
          <a:prstGeom prst="rect">
            <a:avLst/>
          </a:prstGeom>
          <a:noFill/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/>
          <a:lstStyle/>
          <a:p algn="l">
            <a:r>
              <a:rPr lang="zh-CN" sz="1050">
                <a:solidFill>
                  <a:srgbClr val="675E7D"/>
                </a:solidFill>
                <a:latin typeface="Aptos"/>
                <a:ea typeface="Microsoft YaHei"/>
                <a:cs typeface="Aptos"/>
              </a:rPr>
              <a:t>DCC-MCP Executive Violet Office Brand Template Gallery  /  DCC-MCP Executive Violet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" name="TextBox 6"/>
          <p:cNvSpPr txBox="1"/>
          <p:nvPr/>
        </p:nvSpPr>
        <p:spPr>
          <a:xfrm>
            <a:off x="822960" y="310896"/>
            <a:ext cx="10515600" cy="987552"/>
          </a:xfrm>
          <a:prstGeom prst="rect">
            <a:avLst/>
          </a:prstGeom>
          <a:noFill/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/>
          <a:lstStyle/>
          <a:p algn="l">
            <a:r>
              <a:rPr lang="zh-CN" sz="3100" b="1">
                <a:solidFill>
                  <a:srgbClr val="211A35"/>
                </a:solidFill>
                <a:latin typeface="Aptos Display"/>
                <a:ea typeface="Microsoft YaHei"/>
                <a:cs typeface="Aptos Display"/>
              </a:rPr>
              <a:t>One runtime already carries eleven verified capabilities</a:t>
            </a:r>
          </a:p>
        </p:txBody>
      </p:sp>
      <p:sp>
        <p:nvSpPr>
          <p:cNvPr id="7" name="Background 7"/>
          <p:cNvSpPr/>
          <p:nvPr/>
        </p:nvSpPr>
        <p:spPr>
          <a:xfrm>
            <a:off x="822960" y="1353312"/>
            <a:ext cx="658368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Background 8"/>
          <p:cNvSpPr/>
          <p:nvPr/>
        </p:nvSpPr>
        <p:spPr>
          <a:xfrm>
            <a:off x="1572768" y="1353312"/>
            <a:ext cx="9765792" cy="13716"/>
          </a:xfrm>
          <a:prstGeom prst="rect">
            <a:avLst/>
          </a:prstGeom>
          <a:solidFill>
            <a:srgbClr val="DED7EE"/>
          </a:solidFill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0" name="Background 400"/>
          <p:cNvSpPr/>
          <p:nvPr/>
        </p:nvSpPr>
        <p:spPr>
          <a:xfrm>
            <a:off x="822960" y="1664208"/>
            <a:ext cx="91440" cy="157276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1" name="TextBox 401"/>
          <p:cNvSpPr txBox="1"/>
          <p:nvPr/>
        </p:nvSpPr>
        <p:spPr>
          <a:xfrm>
            <a:off x="1097280" y="1645920"/>
            <a:ext cx="2651760" cy="841248"/>
          </a:xfrm>
          <a:prstGeom prst="rect">
            <a:avLst/>
          </a:prstGeom>
          <a:noFill/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/>
          <a:lstStyle/>
          <a:p algn="l">
            <a:r>
              <a:rPr lang="zh-CN" sz="4600" b="1">
                <a:solidFill>
                  <a:srgbClr val="211A35"/>
                </a:solidFill>
                <a:latin typeface="Aptos Display"/>
                <a:ea typeface="Microsoft YaHei"/>
                <a:cs typeface="Aptos Display"/>
              </a:rPr>
              <a:t>3</a:t>
            </a:r>
          </a:p>
        </p:txBody>
      </p:sp>
      <p:sp>
        <p:nvSpPr>
          <p:cNvPr id="402" name="TextBox 402"/>
          <p:cNvSpPr txBox="1"/>
          <p:nvPr/>
        </p:nvSpPr>
        <p:spPr>
          <a:xfrm>
            <a:off x="1115568" y="2523744"/>
            <a:ext cx="2697480" cy="640080"/>
          </a:xfrm>
          <a:prstGeom prst="rect">
            <a:avLst/>
          </a:prstGeom>
          <a:noFill/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/>
          <a:lstStyle/>
          <a:p algn="l">
            <a:r>
              <a:rPr lang="zh-CN" sz="1600">
                <a:solidFill>
                  <a:srgbClr val="675E7D"/>
                </a:solidFill>
                <a:latin typeface="Aptos"/>
                <a:ea typeface="Microsoft YaHei"/>
                <a:cs typeface="Aptos"/>
              </a:rPr>
              <a:t>desktop apps</a:t>
            </a:r>
          </a:p>
        </p:txBody>
      </p:sp>
      <p:sp>
        <p:nvSpPr>
          <p:cNvPr id="403" name="Background 403"/>
          <p:cNvSpPr/>
          <p:nvPr/>
        </p:nvSpPr>
        <p:spPr>
          <a:xfrm>
            <a:off x="4005072" y="1773936"/>
            <a:ext cx="13716" cy="1298448"/>
          </a:xfrm>
          <a:prstGeom prst="rect">
            <a:avLst/>
          </a:prstGeom>
          <a:solidFill>
            <a:srgbClr val="DED7EE"/>
          </a:solidFill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4" name="Background 404"/>
          <p:cNvSpPr/>
          <p:nvPr/>
        </p:nvSpPr>
        <p:spPr>
          <a:xfrm>
            <a:off x="4343400" y="1664208"/>
            <a:ext cx="91440" cy="157276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5" name="TextBox 405"/>
          <p:cNvSpPr txBox="1"/>
          <p:nvPr/>
        </p:nvSpPr>
        <p:spPr>
          <a:xfrm>
            <a:off x="4617720" y="1645920"/>
            <a:ext cx="2651760" cy="841248"/>
          </a:xfrm>
          <a:prstGeom prst="rect">
            <a:avLst/>
          </a:prstGeom>
          <a:noFill/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/>
          <a:lstStyle/>
          <a:p algn="l">
            <a:r>
              <a:rPr lang="zh-CN" sz="4600" b="1">
                <a:solidFill>
                  <a:srgbClr val="211A35"/>
                </a:solidFill>
                <a:latin typeface="Aptos Display"/>
                <a:ea typeface="Microsoft YaHei"/>
                <a:cs typeface="Aptos Display"/>
              </a:rPr>
              <a:t>11</a:t>
            </a:r>
          </a:p>
        </p:txBody>
      </p:sp>
      <p:sp>
        <p:nvSpPr>
          <p:cNvPr id="406" name="TextBox 406"/>
          <p:cNvSpPr txBox="1"/>
          <p:nvPr/>
        </p:nvSpPr>
        <p:spPr>
          <a:xfrm>
            <a:off x="4636008" y="2523744"/>
            <a:ext cx="2697480" cy="640080"/>
          </a:xfrm>
          <a:prstGeom prst="rect">
            <a:avLst/>
          </a:prstGeom>
          <a:noFill/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/>
          <a:lstStyle/>
          <a:p algn="l">
            <a:r>
              <a:rPr lang="zh-CN" sz="1600">
                <a:solidFill>
                  <a:srgbClr val="675E7D"/>
                </a:solidFill>
                <a:latin typeface="Aptos"/>
                <a:ea typeface="Microsoft YaHei"/>
                <a:cs typeface="Aptos"/>
              </a:rPr>
              <a:t>live task capabilities</a:t>
            </a:r>
          </a:p>
        </p:txBody>
      </p:sp>
      <p:sp>
        <p:nvSpPr>
          <p:cNvPr id="407" name="Background 407"/>
          <p:cNvSpPr/>
          <p:nvPr/>
        </p:nvSpPr>
        <p:spPr>
          <a:xfrm>
            <a:off x="7525512" y="1773936"/>
            <a:ext cx="13716" cy="1298448"/>
          </a:xfrm>
          <a:prstGeom prst="rect">
            <a:avLst/>
          </a:prstGeom>
          <a:solidFill>
            <a:srgbClr val="DED7EE"/>
          </a:solidFill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8" name="Background 408"/>
          <p:cNvSpPr/>
          <p:nvPr/>
        </p:nvSpPr>
        <p:spPr>
          <a:xfrm>
            <a:off x="7863840" y="1664208"/>
            <a:ext cx="91440" cy="157276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9" name="TextBox 409"/>
          <p:cNvSpPr txBox="1"/>
          <p:nvPr/>
        </p:nvSpPr>
        <p:spPr>
          <a:xfrm>
            <a:off x="8138160" y="1645920"/>
            <a:ext cx="2651760" cy="841248"/>
          </a:xfrm>
          <a:prstGeom prst="rect">
            <a:avLst/>
          </a:prstGeom>
          <a:noFill/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/>
          <a:lstStyle/>
          <a:p algn="l">
            <a:r>
              <a:rPr lang="zh-CN" sz="4600" b="1">
                <a:solidFill>
                  <a:srgbClr val="211A35"/>
                </a:solidFill>
                <a:latin typeface="Aptos Display"/>
                <a:ea typeface="Microsoft YaHei"/>
                <a:cs typeface="Aptos Display"/>
              </a:rPr>
              <a:t>3</a:t>
            </a:r>
          </a:p>
        </p:txBody>
      </p:sp>
      <p:sp>
        <p:nvSpPr>
          <p:cNvPr id="410" name="TextBox 410"/>
          <p:cNvSpPr txBox="1"/>
          <p:nvPr/>
        </p:nvSpPr>
        <p:spPr>
          <a:xfrm>
            <a:off x="8156448" y="2523744"/>
            <a:ext cx="2697480" cy="640080"/>
          </a:xfrm>
          <a:prstGeom prst="rect">
            <a:avLst/>
          </a:prstGeom>
          <a:noFill/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/>
          <a:lstStyle/>
          <a:p algn="l">
            <a:r>
              <a:rPr lang="zh-CN" sz="1600">
                <a:solidFill>
                  <a:srgbClr val="675E7D"/>
                </a:solidFill>
                <a:latin typeface="Aptos"/>
                <a:ea typeface="Microsoft YaHei"/>
                <a:cs typeface="Aptos"/>
              </a:rPr>
              <a:t>brand packages</a:t>
            </a:r>
          </a:p>
        </p:txBody>
      </p:sp>
      <p:sp>
        <p:nvSpPr>
          <p:cNvPr id="412" name="Background 412"/>
          <p:cNvSpPr/>
          <p:nvPr/>
        </p:nvSpPr>
        <p:spPr>
          <a:xfrm>
            <a:off x="822960" y="3767328"/>
            <a:ext cx="91440" cy="157276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3" name="TextBox 413"/>
          <p:cNvSpPr txBox="1"/>
          <p:nvPr/>
        </p:nvSpPr>
        <p:spPr>
          <a:xfrm>
            <a:off x="1097280" y="3749040"/>
            <a:ext cx="2651760" cy="841248"/>
          </a:xfrm>
          <a:prstGeom prst="rect">
            <a:avLst/>
          </a:prstGeom>
          <a:noFill/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/>
          <a:lstStyle/>
          <a:p algn="l">
            <a:r>
              <a:rPr lang="zh-CN" sz="4600" b="1">
                <a:solidFill>
                  <a:srgbClr val="211A35"/>
                </a:solidFill>
                <a:latin typeface="Aptos Display"/>
                <a:ea typeface="Microsoft YaHei"/>
                <a:cs typeface="Aptos Display"/>
              </a:rPr>
              <a:t>7</a:t>
            </a:r>
          </a:p>
        </p:txBody>
      </p:sp>
      <p:sp>
        <p:nvSpPr>
          <p:cNvPr id="414" name="TextBox 414"/>
          <p:cNvSpPr txBox="1"/>
          <p:nvPr/>
        </p:nvSpPr>
        <p:spPr>
          <a:xfrm>
            <a:off x="1115568" y="4626864"/>
            <a:ext cx="2697480" cy="640080"/>
          </a:xfrm>
          <a:prstGeom prst="rect">
            <a:avLst/>
          </a:prstGeom>
          <a:noFill/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/>
          <a:lstStyle/>
          <a:p algn="l">
            <a:r>
              <a:rPr lang="zh-CN" sz="1600">
                <a:solidFill>
                  <a:srgbClr val="675E7D"/>
                </a:solidFill>
                <a:latin typeface="Aptos"/>
                <a:ea typeface="Microsoft YaHei"/>
                <a:cs typeface="Aptos"/>
              </a:rPr>
              <a:t>semantic layouts exercised</a:t>
            </a:r>
          </a:p>
        </p:txBody>
      </p:sp>
      <p:sp>
        <p:nvSpPr>
          <p:cNvPr id="415" name="Background 415"/>
          <p:cNvSpPr/>
          <p:nvPr/>
        </p:nvSpPr>
        <p:spPr>
          <a:xfrm>
            <a:off x="4005072" y="3877056"/>
            <a:ext cx="13716" cy="1298448"/>
          </a:xfrm>
          <a:prstGeom prst="rect">
            <a:avLst/>
          </a:prstGeom>
          <a:solidFill>
            <a:srgbClr val="DED7EE"/>
          </a:solidFill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6" name="Background 416"/>
          <p:cNvSpPr/>
          <p:nvPr/>
        </p:nvSpPr>
        <p:spPr>
          <a:xfrm>
            <a:off x="4343400" y="3767328"/>
            <a:ext cx="91440" cy="157276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7" name="TextBox 417"/>
          <p:cNvSpPr txBox="1"/>
          <p:nvPr/>
        </p:nvSpPr>
        <p:spPr>
          <a:xfrm>
            <a:off x="4617720" y="3749040"/>
            <a:ext cx="2651760" cy="841248"/>
          </a:xfrm>
          <a:prstGeom prst="rect">
            <a:avLst/>
          </a:prstGeom>
          <a:noFill/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/>
          <a:lstStyle/>
          <a:p algn="l">
            <a:r>
              <a:rPr lang="zh-CN" sz="4600" b="1">
                <a:solidFill>
                  <a:srgbClr val="211A35"/>
                </a:solidFill>
                <a:latin typeface="Aptos Display"/>
                <a:ea typeface="Microsoft YaHei"/>
                <a:cs typeface="Aptos Display"/>
              </a:rPr>
              <a:t>0</a:t>
            </a:r>
          </a:p>
        </p:txBody>
      </p:sp>
      <p:sp>
        <p:nvSpPr>
          <p:cNvPr id="418" name="TextBox 418"/>
          <p:cNvSpPr txBox="1"/>
          <p:nvPr/>
        </p:nvSpPr>
        <p:spPr>
          <a:xfrm>
            <a:off x="4636008" y="4626864"/>
            <a:ext cx="2697480" cy="640080"/>
          </a:xfrm>
          <a:prstGeom prst="rect">
            <a:avLst/>
          </a:prstGeom>
          <a:noFill/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/>
          <a:lstStyle/>
          <a:p algn="l">
            <a:r>
              <a:rPr lang="zh-CN" sz="1600">
                <a:solidFill>
                  <a:srgbClr val="675E7D"/>
                </a:solidFill>
                <a:latin typeface="Aptos"/>
                <a:ea typeface="Microsoft YaHei"/>
                <a:cs typeface="Aptos"/>
              </a:rPr>
              <a:t>tolerated overflow</a:t>
            </a:r>
          </a:p>
        </p:txBody>
      </p:sp>
      <p:sp>
        <p:nvSpPr>
          <p:cNvPr id="419" name="Background 419"/>
          <p:cNvSpPr/>
          <p:nvPr/>
        </p:nvSpPr>
        <p:spPr>
          <a:xfrm>
            <a:off x="7525512" y="3877056"/>
            <a:ext cx="13716" cy="1298448"/>
          </a:xfrm>
          <a:prstGeom prst="rect">
            <a:avLst/>
          </a:prstGeom>
          <a:solidFill>
            <a:srgbClr val="DED7EE"/>
          </a:solidFill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0" name="Background 420"/>
          <p:cNvSpPr/>
          <p:nvPr/>
        </p:nvSpPr>
        <p:spPr>
          <a:xfrm>
            <a:off x="7863840" y="3767328"/>
            <a:ext cx="91440" cy="157276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1" name="TextBox 421"/>
          <p:cNvSpPr txBox="1"/>
          <p:nvPr/>
        </p:nvSpPr>
        <p:spPr>
          <a:xfrm>
            <a:off x="8138160" y="3749040"/>
            <a:ext cx="2651760" cy="841248"/>
          </a:xfrm>
          <a:prstGeom prst="rect">
            <a:avLst/>
          </a:prstGeom>
          <a:noFill/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/>
          <a:lstStyle/>
          <a:p algn="l">
            <a:r>
              <a:rPr lang="zh-CN" sz="4600" b="1">
                <a:solidFill>
                  <a:srgbClr val="211A35"/>
                </a:solidFill>
                <a:latin typeface="Aptos Display"/>
                <a:ea typeface="Microsoft YaHei"/>
                <a:cs typeface="Aptos Display"/>
              </a:rPr>
              <a:t>1</a:t>
            </a:r>
          </a:p>
        </p:txBody>
      </p:sp>
      <p:sp>
        <p:nvSpPr>
          <p:cNvPr id="422" name="TextBox 422"/>
          <p:cNvSpPr txBox="1"/>
          <p:nvPr/>
        </p:nvSpPr>
        <p:spPr>
          <a:xfrm>
            <a:off x="8156448" y="4626864"/>
            <a:ext cx="2697480" cy="640080"/>
          </a:xfrm>
          <a:prstGeom prst="rect">
            <a:avLst/>
          </a:prstGeom>
          <a:noFill/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/>
          <a:lstStyle/>
          <a:p algn="l">
            <a:r>
              <a:rPr lang="zh-CN" sz="1600">
                <a:solidFill>
                  <a:srgbClr val="675E7D"/>
                </a:solidFill>
                <a:latin typeface="Aptos"/>
                <a:ea typeface="Microsoft YaHei"/>
                <a:cs typeface="Aptos"/>
              </a:rPr>
              <a:t>versioned protocol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" name="TextBox 6"/>
          <p:cNvSpPr txBox="1"/>
          <p:nvPr/>
        </p:nvSpPr>
        <p:spPr>
          <a:xfrm>
            <a:off x="822960" y="310896"/>
            <a:ext cx="10515600" cy="987552"/>
          </a:xfrm>
          <a:prstGeom prst="rect">
            <a:avLst/>
          </a:prstGeom>
          <a:noFill/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/>
          <a:lstStyle/>
          <a:p algn="l">
            <a:r>
              <a:rPr lang="zh-CN" sz="3600" b="1">
                <a:solidFill>
                  <a:srgbClr val="211A35"/>
                </a:solidFill>
                <a:latin typeface="Aptos Display"/>
                <a:ea typeface="Microsoft YaHei"/>
                <a:cs typeface="Aptos Display"/>
              </a:rPr>
              <a:t>Brand choice changes expression, not the contract</a:t>
            </a:r>
          </a:p>
        </p:txBody>
      </p:sp>
      <p:sp>
        <p:nvSpPr>
          <p:cNvPr id="7" name="Background 7"/>
          <p:cNvSpPr/>
          <p:nvPr/>
        </p:nvSpPr>
        <p:spPr>
          <a:xfrm>
            <a:off x="822960" y="1353312"/>
            <a:ext cx="658368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Background 8"/>
          <p:cNvSpPr/>
          <p:nvPr/>
        </p:nvSpPr>
        <p:spPr>
          <a:xfrm>
            <a:off x="1572768" y="1353312"/>
            <a:ext cx="9765792" cy="13716"/>
          </a:xfrm>
          <a:prstGeom prst="rect">
            <a:avLst/>
          </a:prstGeom>
          <a:solidFill>
            <a:srgbClr val="DED7EE"/>
          </a:solidFill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0" name="Background 240"/>
          <p:cNvSpPr/>
          <p:nvPr/>
        </p:nvSpPr>
        <p:spPr>
          <a:xfrm>
            <a:off x="822960" y="1664208"/>
            <a:ext cx="5120640" cy="4370832"/>
          </a:xfrm>
          <a:prstGeom prst="rect">
            <a:avLst/>
          </a:prstGeom>
          <a:solidFill>
            <a:srgbClr val="EEEAF8"/>
          </a:solidFill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1" name="TextBox 241"/>
          <p:cNvSpPr txBox="1"/>
          <p:nvPr/>
        </p:nvSpPr>
        <p:spPr>
          <a:xfrm>
            <a:off x="1170432" y="1874520"/>
            <a:ext cx="868680" cy="566928"/>
          </a:xfrm>
          <a:prstGeom prst="rect">
            <a:avLst/>
          </a:prstGeom>
          <a:noFill/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/>
          <a:lstStyle/>
          <a:p algn="l">
            <a:r>
              <a:rPr lang="zh-CN" sz="2800" b="1">
                <a:solidFill>
                  <a:srgbClr val="7C3AED"/>
                </a:solidFill>
                <a:latin typeface="Aptos Display"/>
                <a:ea typeface="Microsoft YaHei"/>
                <a:cs typeface="Aptos Display"/>
              </a:rPr>
              <a:t>01</a:t>
            </a:r>
          </a:p>
        </p:txBody>
      </p:sp>
      <p:sp>
        <p:nvSpPr>
          <p:cNvPr id="242" name="TextBox 242"/>
          <p:cNvSpPr txBox="1"/>
          <p:nvPr/>
        </p:nvSpPr>
        <p:spPr>
          <a:xfrm>
            <a:off x="2066544" y="1901952"/>
            <a:ext cx="3474720" cy="530352"/>
          </a:xfrm>
          <a:prstGeom prst="rect">
            <a:avLst/>
          </a:prstGeom>
          <a:noFill/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/>
          <a:lstStyle/>
          <a:p algn="l">
            <a:r>
              <a:rPr lang="zh-CN" sz="2400" b="1">
                <a:solidFill>
                  <a:srgbClr val="211A35"/>
                </a:solidFill>
                <a:latin typeface="Aptos Display"/>
                <a:ea typeface="Microsoft YaHei"/>
                <a:cs typeface="Aptos Display"/>
              </a:rPr>
              <a:t>Stable contract</a:t>
            </a:r>
          </a:p>
        </p:txBody>
      </p:sp>
      <p:sp>
        <p:nvSpPr>
          <p:cNvPr id="245" name="Oval 245"/>
          <p:cNvSpPr/>
          <p:nvPr/>
        </p:nvSpPr>
        <p:spPr>
          <a:xfrm>
            <a:off x="1207008" y="2944368"/>
            <a:ext cx="128016" cy="128016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6" name="TextBox 246"/>
          <p:cNvSpPr txBox="1"/>
          <p:nvPr/>
        </p:nvSpPr>
        <p:spPr>
          <a:xfrm>
            <a:off x="1517904" y="2788920"/>
            <a:ext cx="3977640" cy="685800"/>
          </a:xfrm>
          <a:prstGeom prst="rect">
            <a:avLst/>
          </a:prstGeom>
          <a:noFill/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/>
          <a:lstStyle/>
          <a:p algn="l">
            <a:r>
              <a:rPr lang="zh-CN" sz="1700">
                <a:solidFill>
                  <a:srgbClr val="211A35"/>
                </a:solidFill>
                <a:latin typeface="Aptos"/>
                <a:ea typeface="Microsoft YaHei"/>
                <a:cs typeface="Aptos"/>
              </a:rPr>
              <a:t>Presentation IR stays unchanged</a:t>
            </a:r>
          </a:p>
        </p:txBody>
      </p:sp>
      <p:sp>
        <p:nvSpPr>
          <p:cNvPr id="247" name="Oval 247"/>
          <p:cNvSpPr/>
          <p:nvPr/>
        </p:nvSpPr>
        <p:spPr>
          <a:xfrm>
            <a:off x="1207008" y="3767328"/>
            <a:ext cx="128016" cy="128016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8" name="TextBox 248"/>
          <p:cNvSpPr txBox="1"/>
          <p:nvPr/>
        </p:nvSpPr>
        <p:spPr>
          <a:xfrm>
            <a:off x="1517904" y="3611880"/>
            <a:ext cx="3977640" cy="685800"/>
          </a:xfrm>
          <a:prstGeom prst="rect">
            <a:avLst/>
          </a:prstGeom>
          <a:noFill/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/>
          <a:lstStyle/>
          <a:p algn="l">
            <a:r>
              <a:rPr lang="zh-CN" sz="1700">
                <a:solidFill>
                  <a:srgbClr val="211A35"/>
                </a:solidFill>
                <a:latin typeface="Aptos"/>
                <a:ea typeface="Microsoft YaHei"/>
                <a:cs typeface="Aptos"/>
              </a:rPr>
              <a:t>Layouts remain semantic</a:t>
            </a:r>
          </a:p>
        </p:txBody>
      </p:sp>
      <p:sp>
        <p:nvSpPr>
          <p:cNvPr id="249" name="Oval 249"/>
          <p:cNvSpPr/>
          <p:nvPr/>
        </p:nvSpPr>
        <p:spPr>
          <a:xfrm>
            <a:off x="1207008" y="4590288"/>
            <a:ext cx="128016" cy="128016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0" name="TextBox 250"/>
          <p:cNvSpPr txBox="1"/>
          <p:nvPr/>
        </p:nvSpPr>
        <p:spPr>
          <a:xfrm>
            <a:off x="1517904" y="4434840"/>
            <a:ext cx="3977640" cy="685800"/>
          </a:xfrm>
          <a:prstGeom prst="rect">
            <a:avLst/>
          </a:prstGeom>
          <a:noFill/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/>
          <a:lstStyle/>
          <a:p algn="l">
            <a:r>
              <a:rPr lang="zh-CN" sz="1700">
                <a:solidFill>
                  <a:srgbClr val="211A35"/>
                </a:solidFill>
                <a:latin typeface="Aptos"/>
                <a:ea typeface="Microsoft YaHei"/>
                <a:cs typeface="Aptos"/>
              </a:rPr>
              <a:t>Outputs stay fully editable</a:t>
            </a:r>
          </a:p>
        </p:txBody>
      </p:sp>
      <p:sp>
        <p:nvSpPr>
          <p:cNvPr id="260" name="Background 260"/>
          <p:cNvSpPr/>
          <p:nvPr/>
        </p:nvSpPr>
        <p:spPr>
          <a:xfrm>
            <a:off x="6309360" y="1664208"/>
            <a:ext cx="5120640" cy="43708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1" name="TextBox 261"/>
          <p:cNvSpPr txBox="1"/>
          <p:nvPr/>
        </p:nvSpPr>
        <p:spPr>
          <a:xfrm>
            <a:off x="6656832" y="1874520"/>
            <a:ext cx="868680" cy="566928"/>
          </a:xfrm>
          <a:prstGeom prst="rect">
            <a:avLst/>
          </a:prstGeom>
          <a:noFill/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/>
          <a:lstStyle/>
          <a:p algn="l">
            <a:r>
              <a:rPr lang="zh-CN" sz="2800" b="1">
                <a:solidFill>
                  <a:srgbClr val="4F46E5"/>
                </a:solidFill>
                <a:latin typeface="Aptos Display"/>
                <a:ea typeface="Microsoft YaHei"/>
                <a:cs typeface="Aptos Display"/>
              </a:rPr>
              <a:t>02</a:t>
            </a:r>
          </a:p>
        </p:txBody>
      </p:sp>
      <p:sp>
        <p:nvSpPr>
          <p:cNvPr id="262" name="TextBox 262"/>
          <p:cNvSpPr txBox="1"/>
          <p:nvPr/>
        </p:nvSpPr>
        <p:spPr>
          <a:xfrm>
            <a:off x="7552944" y="1901952"/>
            <a:ext cx="3474720" cy="530352"/>
          </a:xfrm>
          <a:prstGeom prst="rect">
            <a:avLst/>
          </a:prstGeom>
          <a:noFill/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/>
          <a:lstStyle/>
          <a:p algn="l">
            <a:r>
              <a:rPr lang="zh-CN" sz="2400" b="1">
                <a:solidFill>
                  <a:srgbClr val="211A35"/>
                </a:solidFill>
                <a:latin typeface="Aptos Display"/>
                <a:ea typeface="Microsoft YaHei"/>
                <a:cs typeface="Aptos Display"/>
              </a:rPr>
              <a:t>Brand variation</a:t>
            </a:r>
          </a:p>
        </p:txBody>
      </p:sp>
      <p:sp>
        <p:nvSpPr>
          <p:cNvPr id="265" name="Oval 265"/>
          <p:cNvSpPr/>
          <p:nvPr/>
        </p:nvSpPr>
        <p:spPr>
          <a:xfrm>
            <a:off x="6693408" y="2944368"/>
            <a:ext cx="128016" cy="128016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6" name="TextBox 266"/>
          <p:cNvSpPr txBox="1"/>
          <p:nvPr/>
        </p:nvSpPr>
        <p:spPr>
          <a:xfrm>
            <a:off x="7004304" y="2788920"/>
            <a:ext cx="3977640" cy="685800"/>
          </a:xfrm>
          <a:prstGeom prst="rect">
            <a:avLst/>
          </a:prstGeom>
          <a:noFill/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/>
          <a:lstStyle/>
          <a:p algn="l">
            <a:r>
              <a:rPr lang="zh-CN" sz="1700">
                <a:solidFill>
                  <a:srgbClr val="211A35"/>
                </a:solidFill>
                <a:latin typeface="Aptos"/>
                <a:ea typeface="Microsoft YaHei"/>
                <a:cs typeface="Aptos"/>
              </a:rPr>
              <a:t>Colors and type are package-owned</a:t>
            </a:r>
          </a:p>
        </p:txBody>
      </p:sp>
      <p:sp>
        <p:nvSpPr>
          <p:cNvPr id="267" name="Oval 267"/>
          <p:cNvSpPr/>
          <p:nvPr/>
        </p:nvSpPr>
        <p:spPr>
          <a:xfrm>
            <a:off x="6693408" y="3767328"/>
            <a:ext cx="128016" cy="128016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8" name="TextBox 268"/>
          <p:cNvSpPr txBox="1"/>
          <p:nvPr/>
        </p:nvSpPr>
        <p:spPr>
          <a:xfrm>
            <a:off x="7004304" y="3611880"/>
            <a:ext cx="3977640" cy="685800"/>
          </a:xfrm>
          <a:prstGeom prst="rect">
            <a:avLst/>
          </a:prstGeom>
          <a:noFill/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/>
          <a:lstStyle/>
          <a:p algn="l">
            <a:r>
              <a:rPr lang="zh-CN" sz="1700">
                <a:solidFill>
                  <a:srgbClr val="211A35"/>
                </a:solidFill>
                <a:latin typeface="Aptos"/>
                <a:ea typeface="Microsoft YaHei"/>
                <a:cs typeface="Aptos"/>
              </a:rPr>
              <a:t>Registry versions every choice</a:t>
            </a:r>
          </a:p>
        </p:txBody>
      </p:sp>
      <p:sp>
        <p:nvSpPr>
          <p:cNvPr id="269" name="Oval 269"/>
          <p:cNvSpPr/>
          <p:nvPr/>
        </p:nvSpPr>
        <p:spPr>
          <a:xfrm>
            <a:off x="6693408" y="4590288"/>
            <a:ext cx="128016" cy="128016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0" name="TextBox 270"/>
          <p:cNvSpPr txBox="1"/>
          <p:nvPr/>
        </p:nvSpPr>
        <p:spPr>
          <a:xfrm>
            <a:off x="7004304" y="4434840"/>
            <a:ext cx="3977640" cy="685800"/>
          </a:xfrm>
          <a:prstGeom prst="rect">
            <a:avLst/>
          </a:prstGeom>
          <a:noFill/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/>
          <a:lstStyle/>
          <a:p algn="l">
            <a:r>
              <a:rPr lang="zh-CN" sz="1700">
                <a:solidFill>
                  <a:srgbClr val="211A35"/>
                </a:solidFill>
                <a:latin typeface="Aptos"/>
                <a:ea typeface="Microsoft YaHei"/>
                <a:cs typeface="Aptos"/>
              </a:rPr>
              <a:t>PowerPoint verifies the result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Background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C"/>
          </a:solidFill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99" name="GhostCircle 999"/>
          <p:cNvSpPr/>
          <p:nvPr/>
        </p:nvSpPr>
        <p:spPr>
          <a:xfrm>
            <a:off x="320040" y="320040"/>
            <a:ext cx="2651760" cy="2651760"/>
          </a:xfrm>
          <a:prstGeom prst="ellipse">
            <a:avLst/>
          </a:prstGeom>
          <a:solidFill>
            <a:srgbClr val="DED7EE"/>
          </a:solidFill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Picture 4" descr="DCC-MCP logo"/>
          <p:cNvPicPr/>
          <p:nvPr/>
        </p:nvPicPr>
        <p:blipFill>
          <a:blip r:embed="Rfdcafe4556ac4f36"/>
          <a:stretch>
            <a:fillRect/>
          </a:stretch>
        </p:blipFill>
        <p:spPr>
          <a:xfrm>
            <a:off x="10104120" y="530352"/>
            <a:ext cx="1024128" cy="576072"/>
          </a:xfrm>
          <a:prstGeom prst="rect">
            <a:avLst/>
          </a:prstGeom>
        </p:spPr>
      </p:pic>
      <p:sp>
        <p:nvSpPr>
          <p:cNvPr id="10" name="Background 10"/>
          <p:cNvSpPr/>
          <p:nvPr/>
        </p:nvSpPr>
        <p:spPr>
          <a:xfrm>
            <a:off x="777240" y="1325880"/>
            <a:ext cx="109728" cy="42519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5"/>
          <p:cNvSpPr txBox="1"/>
          <p:nvPr/>
        </p:nvSpPr>
        <p:spPr>
          <a:xfrm>
            <a:off x="1143000" y="2331720"/>
            <a:ext cx="9829800" cy="1371600"/>
          </a:xfrm>
          <a:prstGeom prst="rect">
            <a:avLst/>
          </a:prstGeom>
          <a:noFill/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/>
          <a:lstStyle/>
          <a:p algn="l">
            <a:r>
              <a:rPr lang="zh-CN" sz="5200" b="1">
                <a:solidFill>
                  <a:srgbClr val="211A35"/>
                </a:solidFill>
                <a:latin typeface="Aptos Display"/>
                <a:ea typeface="Microsoft YaHei"/>
                <a:cs typeface="Aptos Display"/>
              </a:rPr>
              <a:t>Generate. Render. Score.</a:t>
            </a:r>
          </a:p>
          <a:p algn="l">
            <a:r>
              <a:rPr lang="zh-CN" sz="5200" b="1">
                <a:solidFill>
                  <a:srgbClr val="211A35"/>
                </a:solidFill>
                <a:latin typeface="Aptos Display"/>
                <a:ea typeface="Microsoft YaHei"/>
                <a:cs typeface="Aptos Display"/>
              </a:rPr>
              <a:t>Then refine.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70432" y="4005072"/>
            <a:ext cx="8046720" cy="777240"/>
          </a:xfrm>
          <a:prstGeom prst="rect">
            <a:avLst/>
          </a:prstGeom>
          <a:noFill/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/>
          <a:lstStyle/>
          <a:p algn="l">
            <a:r>
              <a:rPr lang="zh-CN" sz="1900">
                <a:solidFill>
                  <a:srgbClr val="675E7D"/>
                </a:solidFill>
                <a:latin typeface="Aptos"/>
                <a:ea typeface="Microsoft YaHei"/>
                <a:cs typeface="Aptos"/>
              </a:rPr>
              <a:t>A practical agent feedback loop today; preference learning tomorrow.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