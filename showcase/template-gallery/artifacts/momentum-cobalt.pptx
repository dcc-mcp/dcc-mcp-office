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bcd0064bae44d73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7b8b23339b544b11"/>
  </p:sldMasterIdLst>
  <p:sldIdLst>
    <p:sldId id="256" r:id="R16d7201e256e4d34"/>
    <p:sldId id="257" r:id="Rdd48cda8ebb344b9"/>
    <p:sldId id="258" r:id="R6f5d9f9ac18344e9"/>
    <p:sldId id="259" r:id="R1411f619746a4fef"/>
  </p:sldIdLst>
  <p:sldSz cx="12191695" cy="6858000" type="screen16x9"/>
  <p:notesSz cx="7772400" cy="10058400"/>
  <p:defaultTextStyle>
    <a:lvl1pPr>
      <a:defRPr sz="1800"/>
    </a:lvl1pPr>
    <a:lvl2pPr>
      <a:defRPr sz="1800"/>
    </a:lvl2pPr>
    <a:lvl3pPr>
      <a:defRPr sz="1800"/>
    </a:lvl3pPr>
    <a:lvl4pPr>
      <a:defRPr sz="1800"/>
    </a:lvl4pPr>
    <a:lvl5pPr>
      <a:defRPr sz="1800"/>
    </a:lvl5pPr>
    <a:lvl6pPr>
      <a:defRPr sz="1800"/>
    </a:lvl6pPr>
    <a:lvl7pPr>
      <a:defRPr sz="1800"/>
    </a:lvl7pPr>
    <a:lvl8pPr>
      <a:defRPr sz="1800"/>
    </a:lvl8pPr>
    <a:lvl9pPr>
      <a:defRPr sz="1800"/>
    </a:lvl9pPr>
  </p:defaultTextStyle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slideMasters/slideMaster1.xml" Id="R7b8b23339b544b11" /><Relationship Type="http://schemas.openxmlformats.org/officeDocument/2006/relationships/slide" Target="slides/slide1.xml" Id="R16d7201e256e4d34" /><Relationship Type="http://schemas.openxmlformats.org/officeDocument/2006/relationships/slide" Target="slides/slide2.xml" Id="Rdd48cda8ebb344b9" /><Relationship Type="http://schemas.openxmlformats.org/officeDocument/2006/relationships/slide" Target="slides/slide3.xml" Id="R6f5d9f9ac18344e9" /><Relationship Type="http://schemas.openxmlformats.org/officeDocument/2006/relationships/slide" Target="slides/slide4.xml" Id="R1411f619746a4f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../theme/theme1.xml" Id="R84981813c6ba45a4" 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../notesMasters/notesMaster1.xml" Id="R6a21b86f5c904ec8" /><Relationship Type="http://schemas.openxmlformats.org/officeDocument/2006/relationships/slide" Target="../slides/slide1.xml" Id="Re732fe92c86948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../notesMasters/notesMaster1.xml" Id="R9ca08db7b2f742f3" /><Relationship Type="http://schemas.openxmlformats.org/officeDocument/2006/relationships/slide" Target="../slides/slide2.xml" Id="Rafe14100e87649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../notesMasters/notesMaster1.xml" Id="R69768cc815f442c2" /><Relationship Type="http://schemas.openxmlformats.org/officeDocument/2006/relationships/slide" Target="../slides/slide3.xml" Id="Rcbf8e56d23d444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../notesMasters/notesMaster1.xml" Id="R56d645551a8a4d4c" /><Relationship Type="http://schemas.openxmlformats.org/officeDocument/2006/relationships/slide" Target="../slides/slide4.xml" Id="R5861e22a8c1c4dfd" 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controlled comparison: only the template package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Numbers are drawn from the same verified showcase capture.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Brand packages are validated before they are advertised.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Deterministic gates come before learned aesthetic preference.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../slideMasters/slideMaster1.xml" Id="Re8af2b8f69d34eac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c9f17c32fac843b3" /><Relationship Type="http://schemas.openxmlformats.org/officeDocument/2006/relationships/theme" Target="../theme/theme1.xml" Id="R1d3ca49c212b44ea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c9f17c32fac843b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1346fd3014314f69" /><Relationship Type="http://schemas.openxmlformats.org/officeDocument/2006/relationships/notesSlide" Target="../notesSlides/notesSlide1.xml" Id="R8704112492a04572" /><Relationship Type="http://schemas.openxmlformats.org/officeDocument/2006/relationships/image" Target="/ppt/media/image1.jpg" Id="Ra09f5a4b313a449a" /><Relationship Type="http://schemas.openxmlformats.org/officeDocument/2006/relationships/image" Target="/ppt/media/logo-light.png" Id="Rf72ea2b8463042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6706496121c14b8a" /><Relationship Type="http://schemas.openxmlformats.org/officeDocument/2006/relationships/notesSlide" Target="../notesSlides/notesSlide2.xml" Id="R5597f19e01f342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b058da7c2b104d78" /><Relationship Type="http://schemas.openxmlformats.org/officeDocument/2006/relationships/notesSlide" Target="../notesSlides/notesSlide3.xml" Id="R835d5cdc1d254b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ec0f649703af4d90" /><Relationship Type="http://schemas.openxmlformats.org/officeDocument/2006/relationships/notesSlide" Target="../notesSlides/notesSlide4.xml" Id="R69df4bfc8a19467d" /><Relationship Type="http://schemas.openxmlformats.org/officeDocument/2006/relationships/image" Target="/ppt/media/logo-light.png" Id="R306685ab81744bb6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3" descr="One story.&#10;Three brand directions."/>
          <p:cNvPicPr/>
          <p:nvPr/>
        </p:nvPicPr>
        <p:blipFill>
          <a:blip r:embed="Ra09f5a4b313a449a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Background 4"/>
          <p:cNvSpPr/>
          <p:nvPr/>
        </p:nvSpPr>
        <p:spPr>
          <a:xfrm>
            <a:off x="0" y="0"/>
            <a:ext cx="5623560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Background 10"/>
          <p:cNvSpPr/>
          <p:nvPr/>
        </p:nvSpPr>
        <p:spPr>
          <a:xfrm>
            <a:off x="713232" y="1051560"/>
            <a:ext cx="91440" cy="4526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1" descr="DCC-MCP logo"/>
          <p:cNvPicPr/>
          <p:nvPr/>
        </p:nvPicPr>
        <p:blipFill>
          <a:blip r:embed="Rf72ea2b84630427e"/>
          <a:stretch>
            <a:fillRect/>
          </a:stretch>
        </p:blipFill>
        <p:spPr>
          <a:xfrm>
            <a:off x="914400" y="566928"/>
            <a:ext cx="731520" cy="41148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932688" y="1298448"/>
            <a:ext cx="4434840" cy="347472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200" b="1">
                <a:solidFill>
                  <a:srgbClr val="1D4ED8"/>
                </a:solidFill>
                <a:latin typeface="Aptos"/>
                <a:ea typeface="Microsoft YaHei"/>
                <a:cs typeface="Aptos"/>
              </a:rPr>
              <a:t>GOVERNED OFFICE AUTOMATION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0" y="1828800"/>
            <a:ext cx="4526280" cy="1993392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5000" b="1">
                <a:solidFill>
                  <a:srgbClr val="101828"/>
                </a:solidFill>
                <a:latin typeface="Aptos Display"/>
                <a:ea typeface="Microsoft YaHei"/>
                <a:cs typeface="Aptos Display"/>
              </a:rPr>
              <a:t>One story.</a:t>
            </a:r>
          </a:p>
          <a:p algn="l">
            <a:r>
              <a:rPr lang="zh-CN" sz="5000" b="1">
                <a:solidFill>
                  <a:srgbClr val="101828"/>
                </a:solidFill>
                <a:latin typeface="Aptos Display"/>
                <a:ea typeface="Microsoft YaHei"/>
                <a:cs typeface="Aptos Display"/>
              </a:rPr>
              <a:t>Three brand directions.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2688" y="4041648"/>
            <a:ext cx="4315968" cy="100584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800">
                <a:solidFill>
                  <a:srgbClr val="475467"/>
                </a:solidFill>
                <a:latin typeface="Aptos"/>
                <a:ea typeface="Microsoft YaHei"/>
                <a:cs typeface="Aptos"/>
              </a:rPr>
              <a:t>One semantic story, compiled through three project-owned visual systems.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2688" y="6108192"/>
            <a:ext cx="4389120" cy="32004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050">
                <a:solidFill>
                  <a:srgbClr val="475467"/>
                </a:solidFill>
                <a:latin typeface="Aptos"/>
                <a:ea typeface="Microsoft YaHei"/>
                <a:cs typeface="Aptos"/>
              </a:rPr>
              <a:t>DCC-MCP Momentum Cobalt Office Brand Template Gallery  /  DCC-MCP Momentum Cobalt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6"/>
          <p:cNvSpPr txBox="1"/>
          <p:nvPr/>
        </p:nvSpPr>
        <p:spPr>
          <a:xfrm>
            <a:off x="822960" y="310896"/>
            <a:ext cx="10515600" cy="987552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3100" b="1">
                <a:solidFill>
                  <a:srgbClr val="101828"/>
                </a:solidFill>
                <a:latin typeface="Aptos Display"/>
                <a:ea typeface="Microsoft YaHei"/>
                <a:cs typeface="Aptos Display"/>
              </a:rPr>
              <a:t>One runtime already carries eleven verified capabilities</a:t>
            </a:r>
          </a:p>
        </p:txBody>
      </p:sp>
      <p:sp>
        <p:nvSpPr>
          <p:cNvPr id="7" name="Background 7"/>
          <p:cNvSpPr/>
          <p:nvPr/>
        </p:nvSpPr>
        <p:spPr>
          <a:xfrm>
            <a:off x="822960" y="1353312"/>
            <a:ext cx="658368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ackground 8"/>
          <p:cNvSpPr/>
          <p:nvPr/>
        </p:nvSpPr>
        <p:spPr>
          <a:xfrm>
            <a:off x="1572768" y="1353312"/>
            <a:ext cx="9765792" cy="13716"/>
          </a:xfrm>
          <a:prstGeom prst="rect">
            <a:avLst/>
          </a:prstGeom>
          <a:solidFill>
            <a:srgbClr val="CBD8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0" name="Background 400"/>
          <p:cNvSpPr/>
          <p:nvPr/>
        </p:nvSpPr>
        <p:spPr>
          <a:xfrm>
            <a:off x="822960" y="1664208"/>
            <a:ext cx="91440" cy="15727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1" name="TextBox 401"/>
          <p:cNvSpPr txBox="1"/>
          <p:nvPr/>
        </p:nvSpPr>
        <p:spPr>
          <a:xfrm>
            <a:off x="1097280" y="1645920"/>
            <a:ext cx="2651760" cy="841248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4600" b="1">
                <a:solidFill>
                  <a:srgbClr val="101828"/>
                </a:solidFill>
                <a:latin typeface="Aptos Display"/>
                <a:ea typeface="Microsoft YaHei"/>
                <a:cs typeface="Aptos Display"/>
              </a:rPr>
              <a:t>3</a:t>
            </a:r>
          </a:p>
        </p:txBody>
      </p:sp>
      <p:sp>
        <p:nvSpPr>
          <p:cNvPr id="402" name="TextBox 402"/>
          <p:cNvSpPr txBox="1"/>
          <p:nvPr/>
        </p:nvSpPr>
        <p:spPr>
          <a:xfrm>
            <a:off x="1115568" y="2523744"/>
            <a:ext cx="2697480" cy="64008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600">
                <a:solidFill>
                  <a:srgbClr val="475467"/>
                </a:solidFill>
                <a:latin typeface="Aptos"/>
                <a:ea typeface="Microsoft YaHei"/>
                <a:cs typeface="Aptos"/>
              </a:rPr>
              <a:t>desktop apps</a:t>
            </a:r>
          </a:p>
        </p:txBody>
      </p:sp>
      <p:sp>
        <p:nvSpPr>
          <p:cNvPr id="403" name="Background 403"/>
          <p:cNvSpPr/>
          <p:nvPr/>
        </p:nvSpPr>
        <p:spPr>
          <a:xfrm>
            <a:off x="4005072" y="1773936"/>
            <a:ext cx="13716" cy="1298448"/>
          </a:xfrm>
          <a:prstGeom prst="rect">
            <a:avLst/>
          </a:prstGeom>
          <a:solidFill>
            <a:srgbClr val="CBD8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4" name="Background 404"/>
          <p:cNvSpPr/>
          <p:nvPr/>
        </p:nvSpPr>
        <p:spPr>
          <a:xfrm>
            <a:off x="4343400" y="1664208"/>
            <a:ext cx="91440" cy="157276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5" name="TextBox 405"/>
          <p:cNvSpPr txBox="1"/>
          <p:nvPr/>
        </p:nvSpPr>
        <p:spPr>
          <a:xfrm>
            <a:off x="4617720" y="1645920"/>
            <a:ext cx="2651760" cy="841248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4600" b="1">
                <a:solidFill>
                  <a:srgbClr val="101828"/>
                </a:solidFill>
                <a:latin typeface="Aptos Display"/>
                <a:ea typeface="Microsoft YaHei"/>
                <a:cs typeface="Aptos Display"/>
              </a:rPr>
              <a:t>11</a:t>
            </a:r>
          </a:p>
        </p:txBody>
      </p:sp>
      <p:sp>
        <p:nvSpPr>
          <p:cNvPr id="406" name="TextBox 406"/>
          <p:cNvSpPr txBox="1"/>
          <p:nvPr/>
        </p:nvSpPr>
        <p:spPr>
          <a:xfrm>
            <a:off x="4636008" y="2523744"/>
            <a:ext cx="2697480" cy="64008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600">
                <a:solidFill>
                  <a:srgbClr val="475467"/>
                </a:solidFill>
                <a:latin typeface="Aptos"/>
                <a:ea typeface="Microsoft YaHei"/>
                <a:cs typeface="Aptos"/>
              </a:rPr>
              <a:t>live task capabilities</a:t>
            </a:r>
          </a:p>
        </p:txBody>
      </p:sp>
      <p:sp>
        <p:nvSpPr>
          <p:cNvPr id="407" name="Background 407"/>
          <p:cNvSpPr/>
          <p:nvPr/>
        </p:nvSpPr>
        <p:spPr>
          <a:xfrm>
            <a:off x="7525512" y="1773936"/>
            <a:ext cx="13716" cy="1298448"/>
          </a:xfrm>
          <a:prstGeom prst="rect">
            <a:avLst/>
          </a:prstGeom>
          <a:solidFill>
            <a:srgbClr val="CBD8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8" name="Background 408"/>
          <p:cNvSpPr/>
          <p:nvPr/>
        </p:nvSpPr>
        <p:spPr>
          <a:xfrm>
            <a:off x="7863840" y="1664208"/>
            <a:ext cx="91440" cy="15727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9" name="TextBox 409"/>
          <p:cNvSpPr txBox="1"/>
          <p:nvPr/>
        </p:nvSpPr>
        <p:spPr>
          <a:xfrm>
            <a:off x="8138160" y="1645920"/>
            <a:ext cx="2651760" cy="841248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4600" b="1">
                <a:solidFill>
                  <a:srgbClr val="101828"/>
                </a:solidFill>
                <a:latin typeface="Aptos Display"/>
                <a:ea typeface="Microsoft YaHei"/>
                <a:cs typeface="Aptos Display"/>
              </a:rPr>
              <a:t>3</a:t>
            </a:r>
          </a:p>
        </p:txBody>
      </p:sp>
      <p:sp>
        <p:nvSpPr>
          <p:cNvPr id="410" name="TextBox 410"/>
          <p:cNvSpPr txBox="1"/>
          <p:nvPr/>
        </p:nvSpPr>
        <p:spPr>
          <a:xfrm>
            <a:off x="8156448" y="2523744"/>
            <a:ext cx="2697480" cy="64008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600">
                <a:solidFill>
                  <a:srgbClr val="475467"/>
                </a:solidFill>
                <a:latin typeface="Aptos"/>
                <a:ea typeface="Microsoft YaHei"/>
                <a:cs typeface="Aptos"/>
              </a:rPr>
              <a:t>brand packages</a:t>
            </a:r>
          </a:p>
        </p:txBody>
      </p:sp>
      <p:sp>
        <p:nvSpPr>
          <p:cNvPr id="412" name="Background 412"/>
          <p:cNvSpPr/>
          <p:nvPr/>
        </p:nvSpPr>
        <p:spPr>
          <a:xfrm>
            <a:off x="822960" y="3767328"/>
            <a:ext cx="91440" cy="157276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3" name="TextBox 413"/>
          <p:cNvSpPr txBox="1"/>
          <p:nvPr/>
        </p:nvSpPr>
        <p:spPr>
          <a:xfrm>
            <a:off x="1097280" y="3749040"/>
            <a:ext cx="2651760" cy="841248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4600" b="1">
                <a:solidFill>
                  <a:srgbClr val="101828"/>
                </a:solidFill>
                <a:latin typeface="Aptos Display"/>
                <a:ea typeface="Microsoft YaHei"/>
                <a:cs typeface="Aptos Display"/>
              </a:rPr>
              <a:t>7</a:t>
            </a:r>
          </a:p>
        </p:txBody>
      </p:sp>
      <p:sp>
        <p:nvSpPr>
          <p:cNvPr id="414" name="TextBox 414"/>
          <p:cNvSpPr txBox="1"/>
          <p:nvPr/>
        </p:nvSpPr>
        <p:spPr>
          <a:xfrm>
            <a:off x="1115568" y="4626864"/>
            <a:ext cx="2697480" cy="64008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600">
                <a:solidFill>
                  <a:srgbClr val="475467"/>
                </a:solidFill>
                <a:latin typeface="Aptos"/>
                <a:ea typeface="Microsoft YaHei"/>
                <a:cs typeface="Aptos"/>
              </a:rPr>
              <a:t>semantic layouts exercised</a:t>
            </a:r>
          </a:p>
        </p:txBody>
      </p:sp>
      <p:sp>
        <p:nvSpPr>
          <p:cNvPr id="415" name="Background 415"/>
          <p:cNvSpPr/>
          <p:nvPr/>
        </p:nvSpPr>
        <p:spPr>
          <a:xfrm>
            <a:off x="4005072" y="3877056"/>
            <a:ext cx="13716" cy="1298448"/>
          </a:xfrm>
          <a:prstGeom prst="rect">
            <a:avLst/>
          </a:prstGeom>
          <a:solidFill>
            <a:srgbClr val="CBD8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6" name="Background 416"/>
          <p:cNvSpPr/>
          <p:nvPr/>
        </p:nvSpPr>
        <p:spPr>
          <a:xfrm>
            <a:off x="4343400" y="3767328"/>
            <a:ext cx="91440" cy="15727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7" name="TextBox 417"/>
          <p:cNvSpPr txBox="1"/>
          <p:nvPr/>
        </p:nvSpPr>
        <p:spPr>
          <a:xfrm>
            <a:off x="4617720" y="3749040"/>
            <a:ext cx="2651760" cy="841248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4600" b="1">
                <a:solidFill>
                  <a:srgbClr val="101828"/>
                </a:solidFill>
                <a:latin typeface="Aptos Display"/>
                <a:ea typeface="Microsoft YaHei"/>
                <a:cs typeface="Aptos Display"/>
              </a:rPr>
              <a:t>0</a:t>
            </a:r>
          </a:p>
        </p:txBody>
      </p:sp>
      <p:sp>
        <p:nvSpPr>
          <p:cNvPr id="418" name="TextBox 418"/>
          <p:cNvSpPr txBox="1"/>
          <p:nvPr/>
        </p:nvSpPr>
        <p:spPr>
          <a:xfrm>
            <a:off x="4636008" y="4626864"/>
            <a:ext cx="2697480" cy="64008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600">
                <a:solidFill>
                  <a:srgbClr val="475467"/>
                </a:solidFill>
                <a:latin typeface="Aptos"/>
                <a:ea typeface="Microsoft YaHei"/>
                <a:cs typeface="Aptos"/>
              </a:rPr>
              <a:t>tolerated overflow</a:t>
            </a:r>
          </a:p>
        </p:txBody>
      </p:sp>
      <p:sp>
        <p:nvSpPr>
          <p:cNvPr id="419" name="Background 419"/>
          <p:cNvSpPr/>
          <p:nvPr/>
        </p:nvSpPr>
        <p:spPr>
          <a:xfrm>
            <a:off x="7525512" y="3877056"/>
            <a:ext cx="13716" cy="1298448"/>
          </a:xfrm>
          <a:prstGeom prst="rect">
            <a:avLst/>
          </a:prstGeom>
          <a:solidFill>
            <a:srgbClr val="CBD8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0" name="Background 420"/>
          <p:cNvSpPr/>
          <p:nvPr/>
        </p:nvSpPr>
        <p:spPr>
          <a:xfrm>
            <a:off x="7863840" y="3767328"/>
            <a:ext cx="91440" cy="157276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1" name="TextBox 421"/>
          <p:cNvSpPr txBox="1"/>
          <p:nvPr/>
        </p:nvSpPr>
        <p:spPr>
          <a:xfrm>
            <a:off x="8138160" y="3749040"/>
            <a:ext cx="2651760" cy="841248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4600" b="1">
                <a:solidFill>
                  <a:srgbClr val="101828"/>
                </a:solidFill>
                <a:latin typeface="Aptos Display"/>
                <a:ea typeface="Microsoft YaHei"/>
                <a:cs typeface="Aptos Display"/>
              </a:rPr>
              <a:t>1</a:t>
            </a:r>
          </a:p>
        </p:txBody>
      </p:sp>
      <p:sp>
        <p:nvSpPr>
          <p:cNvPr id="422" name="TextBox 422"/>
          <p:cNvSpPr txBox="1"/>
          <p:nvPr/>
        </p:nvSpPr>
        <p:spPr>
          <a:xfrm>
            <a:off x="8156448" y="4626864"/>
            <a:ext cx="2697480" cy="64008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600">
                <a:solidFill>
                  <a:srgbClr val="475467"/>
                </a:solidFill>
                <a:latin typeface="Aptos"/>
                <a:ea typeface="Microsoft YaHei"/>
                <a:cs typeface="Aptos"/>
              </a:rPr>
              <a:t>versioned protocol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6"/>
          <p:cNvSpPr txBox="1"/>
          <p:nvPr/>
        </p:nvSpPr>
        <p:spPr>
          <a:xfrm>
            <a:off x="822960" y="310896"/>
            <a:ext cx="10515600" cy="987552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3600" b="1">
                <a:solidFill>
                  <a:srgbClr val="101828"/>
                </a:solidFill>
                <a:latin typeface="Aptos Display"/>
                <a:ea typeface="Microsoft YaHei"/>
                <a:cs typeface="Aptos Display"/>
              </a:rPr>
              <a:t>Brand choice changes expression, not the contract</a:t>
            </a:r>
          </a:p>
        </p:txBody>
      </p:sp>
      <p:sp>
        <p:nvSpPr>
          <p:cNvPr id="7" name="Background 7"/>
          <p:cNvSpPr/>
          <p:nvPr/>
        </p:nvSpPr>
        <p:spPr>
          <a:xfrm>
            <a:off x="822960" y="1353312"/>
            <a:ext cx="658368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ackground 8"/>
          <p:cNvSpPr/>
          <p:nvPr/>
        </p:nvSpPr>
        <p:spPr>
          <a:xfrm>
            <a:off x="1572768" y="1353312"/>
            <a:ext cx="9765792" cy="13716"/>
          </a:xfrm>
          <a:prstGeom prst="rect">
            <a:avLst/>
          </a:prstGeom>
          <a:solidFill>
            <a:srgbClr val="CBD8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0" name="Background 240"/>
          <p:cNvSpPr/>
          <p:nvPr/>
        </p:nvSpPr>
        <p:spPr>
          <a:xfrm>
            <a:off x="822960" y="1664208"/>
            <a:ext cx="5120640" cy="4370832"/>
          </a:xfrm>
          <a:prstGeom prst="rect">
            <a:avLst/>
          </a:prstGeom>
          <a:solidFill>
            <a:srgbClr val="E8EE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1" name="TextBox 241"/>
          <p:cNvSpPr txBox="1"/>
          <p:nvPr/>
        </p:nvSpPr>
        <p:spPr>
          <a:xfrm>
            <a:off x="1170432" y="1874520"/>
            <a:ext cx="868680" cy="566928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2800" b="1">
                <a:solidFill>
                  <a:srgbClr val="1D4ED8"/>
                </a:solidFill>
                <a:latin typeface="Aptos Display"/>
                <a:ea typeface="Microsoft YaHei"/>
                <a:cs typeface="Aptos Display"/>
              </a:rPr>
              <a:t>01</a:t>
            </a:r>
          </a:p>
        </p:txBody>
      </p:sp>
      <p:sp>
        <p:nvSpPr>
          <p:cNvPr id="242" name="TextBox 242"/>
          <p:cNvSpPr txBox="1"/>
          <p:nvPr/>
        </p:nvSpPr>
        <p:spPr>
          <a:xfrm>
            <a:off x="2066544" y="1901952"/>
            <a:ext cx="3474720" cy="530352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2400" b="1">
                <a:solidFill>
                  <a:srgbClr val="101828"/>
                </a:solidFill>
                <a:latin typeface="Aptos Display"/>
                <a:ea typeface="Microsoft YaHei"/>
                <a:cs typeface="Aptos Display"/>
              </a:rPr>
              <a:t>Stable contract</a:t>
            </a:r>
          </a:p>
        </p:txBody>
      </p:sp>
      <p:sp>
        <p:nvSpPr>
          <p:cNvPr id="245" name="Oval 245"/>
          <p:cNvSpPr/>
          <p:nvPr/>
        </p:nvSpPr>
        <p:spPr>
          <a:xfrm>
            <a:off x="1207008" y="2944368"/>
            <a:ext cx="128016" cy="128016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6" name="TextBox 246"/>
          <p:cNvSpPr txBox="1"/>
          <p:nvPr/>
        </p:nvSpPr>
        <p:spPr>
          <a:xfrm>
            <a:off x="1517904" y="2788920"/>
            <a:ext cx="3977640" cy="68580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700">
                <a:solidFill>
                  <a:srgbClr val="101828"/>
                </a:solidFill>
                <a:latin typeface="Aptos"/>
                <a:ea typeface="Microsoft YaHei"/>
                <a:cs typeface="Aptos"/>
              </a:rPr>
              <a:t>Presentation IR stays unchanged</a:t>
            </a:r>
          </a:p>
        </p:txBody>
      </p:sp>
      <p:sp>
        <p:nvSpPr>
          <p:cNvPr id="247" name="Oval 247"/>
          <p:cNvSpPr/>
          <p:nvPr/>
        </p:nvSpPr>
        <p:spPr>
          <a:xfrm>
            <a:off x="1207008" y="3767328"/>
            <a:ext cx="128016" cy="128016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8" name="TextBox 248"/>
          <p:cNvSpPr txBox="1"/>
          <p:nvPr/>
        </p:nvSpPr>
        <p:spPr>
          <a:xfrm>
            <a:off x="1517904" y="3611880"/>
            <a:ext cx="3977640" cy="68580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700">
                <a:solidFill>
                  <a:srgbClr val="101828"/>
                </a:solidFill>
                <a:latin typeface="Aptos"/>
                <a:ea typeface="Microsoft YaHei"/>
                <a:cs typeface="Aptos"/>
              </a:rPr>
              <a:t>Layouts remain semantic</a:t>
            </a:r>
          </a:p>
        </p:txBody>
      </p:sp>
      <p:sp>
        <p:nvSpPr>
          <p:cNvPr id="249" name="Oval 249"/>
          <p:cNvSpPr/>
          <p:nvPr/>
        </p:nvSpPr>
        <p:spPr>
          <a:xfrm>
            <a:off x="1207008" y="4590288"/>
            <a:ext cx="128016" cy="128016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0" name="TextBox 250"/>
          <p:cNvSpPr txBox="1"/>
          <p:nvPr/>
        </p:nvSpPr>
        <p:spPr>
          <a:xfrm>
            <a:off x="1517904" y="4434840"/>
            <a:ext cx="3977640" cy="68580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700">
                <a:solidFill>
                  <a:srgbClr val="101828"/>
                </a:solidFill>
                <a:latin typeface="Aptos"/>
                <a:ea typeface="Microsoft YaHei"/>
                <a:cs typeface="Aptos"/>
              </a:rPr>
              <a:t>Outputs stay fully editable</a:t>
            </a:r>
          </a:p>
        </p:txBody>
      </p:sp>
      <p:sp>
        <p:nvSpPr>
          <p:cNvPr id="260" name="Background 260"/>
          <p:cNvSpPr/>
          <p:nvPr/>
        </p:nvSpPr>
        <p:spPr>
          <a:xfrm>
            <a:off x="6309360" y="1664208"/>
            <a:ext cx="5120640" cy="4370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1" name="TextBox 261"/>
          <p:cNvSpPr txBox="1"/>
          <p:nvPr/>
        </p:nvSpPr>
        <p:spPr>
          <a:xfrm>
            <a:off x="6656832" y="1874520"/>
            <a:ext cx="868680" cy="566928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2800" b="1">
                <a:solidFill>
                  <a:srgbClr val="0891B2"/>
                </a:solidFill>
                <a:latin typeface="Aptos Display"/>
                <a:ea typeface="Microsoft YaHei"/>
                <a:cs typeface="Aptos Display"/>
              </a:rPr>
              <a:t>02</a:t>
            </a:r>
          </a:p>
        </p:txBody>
      </p:sp>
      <p:sp>
        <p:nvSpPr>
          <p:cNvPr id="262" name="TextBox 262"/>
          <p:cNvSpPr txBox="1"/>
          <p:nvPr/>
        </p:nvSpPr>
        <p:spPr>
          <a:xfrm>
            <a:off x="7552944" y="1901952"/>
            <a:ext cx="3474720" cy="530352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2400" b="1">
                <a:solidFill>
                  <a:srgbClr val="101828"/>
                </a:solidFill>
                <a:latin typeface="Aptos Display"/>
                <a:ea typeface="Microsoft YaHei"/>
                <a:cs typeface="Aptos Display"/>
              </a:rPr>
              <a:t>Brand variation</a:t>
            </a:r>
          </a:p>
        </p:txBody>
      </p:sp>
      <p:sp>
        <p:nvSpPr>
          <p:cNvPr id="265" name="Oval 265"/>
          <p:cNvSpPr/>
          <p:nvPr/>
        </p:nvSpPr>
        <p:spPr>
          <a:xfrm>
            <a:off x="6693408" y="2944368"/>
            <a:ext cx="128016" cy="128016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6" name="TextBox 266"/>
          <p:cNvSpPr txBox="1"/>
          <p:nvPr/>
        </p:nvSpPr>
        <p:spPr>
          <a:xfrm>
            <a:off x="7004304" y="2788920"/>
            <a:ext cx="3977640" cy="68580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700">
                <a:solidFill>
                  <a:srgbClr val="101828"/>
                </a:solidFill>
                <a:latin typeface="Aptos"/>
                <a:ea typeface="Microsoft YaHei"/>
                <a:cs typeface="Aptos"/>
              </a:rPr>
              <a:t>Colors and type are package-owned</a:t>
            </a:r>
          </a:p>
        </p:txBody>
      </p:sp>
      <p:sp>
        <p:nvSpPr>
          <p:cNvPr id="267" name="Oval 267"/>
          <p:cNvSpPr/>
          <p:nvPr/>
        </p:nvSpPr>
        <p:spPr>
          <a:xfrm>
            <a:off x="6693408" y="3767328"/>
            <a:ext cx="128016" cy="128016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8" name="TextBox 268"/>
          <p:cNvSpPr txBox="1"/>
          <p:nvPr/>
        </p:nvSpPr>
        <p:spPr>
          <a:xfrm>
            <a:off x="7004304" y="3611880"/>
            <a:ext cx="3977640" cy="68580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700">
                <a:solidFill>
                  <a:srgbClr val="101828"/>
                </a:solidFill>
                <a:latin typeface="Aptos"/>
                <a:ea typeface="Microsoft YaHei"/>
                <a:cs typeface="Aptos"/>
              </a:rPr>
              <a:t>Registry versions every choice</a:t>
            </a:r>
          </a:p>
        </p:txBody>
      </p:sp>
      <p:sp>
        <p:nvSpPr>
          <p:cNvPr id="269" name="Oval 269"/>
          <p:cNvSpPr/>
          <p:nvPr/>
        </p:nvSpPr>
        <p:spPr>
          <a:xfrm>
            <a:off x="6693408" y="4590288"/>
            <a:ext cx="128016" cy="128016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0" name="TextBox 270"/>
          <p:cNvSpPr txBox="1"/>
          <p:nvPr/>
        </p:nvSpPr>
        <p:spPr>
          <a:xfrm>
            <a:off x="7004304" y="4434840"/>
            <a:ext cx="3977640" cy="68580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700">
                <a:solidFill>
                  <a:srgbClr val="101828"/>
                </a:solidFill>
                <a:latin typeface="Aptos"/>
                <a:ea typeface="Microsoft YaHei"/>
                <a:cs typeface="Aptos"/>
              </a:rPr>
              <a:t>PowerPoint verifies the result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ackground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9" name="GhostCircle 999"/>
          <p:cNvSpPr/>
          <p:nvPr/>
        </p:nvSpPr>
        <p:spPr>
          <a:xfrm>
            <a:off x="320040" y="320040"/>
            <a:ext cx="2651760" cy="2651760"/>
          </a:xfrm>
          <a:prstGeom prst="ellipse">
            <a:avLst/>
          </a:prstGeom>
          <a:solidFill>
            <a:srgbClr val="CBD8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4" descr="DCC-MCP logo"/>
          <p:cNvPicPr/>
          <p:nvPr/>
        </p:nvPicPr>
        <p:blipFill>
          <a:blip r:embed="R306685ab81744bb6"/>
          <a:stretch>
            <a:fillRect/>
          </a:stretch>
        </p:blipFill>
        <p:spPr>
          <a:xfrm>
            <a:off x="10104120" y="530352"/>
            <a:ext cx="1024128" cy="576072"/>
          </a:xfrm>
          <a:prstGeom prst="rect">
            <a:avLst/>
          </a:prstGeom>
        </p:spPr>
      </p:pic>
      <p:sp>
        <p:nvSpPr>
          <p:cNvPr id="10" name="Background 10"/>
          <p:cNvSpPr/>
          <p:nvPr/>
        </p:nvSpPr>
        <p:spPr>
          <a:xfrm>
            <a:off x="777240" y="1325880"/>
            <a:ext cx="109728" cy="42519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1143000" y="2331720"/>
            <a:ext cx="9829800" cy="137160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5200" b="1">
                <a:solidFill>
                  <a:srgbClr val="101828"/>
                </a:solidFill>
                <a:latin typeface="Aptos Display"/>
                <a:ea typeface="Microsoft YaHei"/>
                <a:cs typeface="Aptos Display"/>
              </a:rPr>
              <a:t>Generate. Render. Score.</a:t>
            </a:r>
          </a:p>
          <a:p algn="l">
            <a:r>
              <a:rPr lang="zh-CN" sz="5200" b="1">
                <a:solidFill>
                  <a:srgbClr val="101828"/>
                </a:solidFill>
                <a:latin typeface="Aptos Display"/>
                <a:ea typeface="Microsoft YaHei"/>
                <a:cs typeface="Aptos Display"/>
              </a:rPr>
              <a:t>Then refine.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70432" y="4005072"/>
            <a:ext cx="8046720" cy="77724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900">
                <a:solidFill>
                  <a:srgbClr val="475467"/>
                </a:solidFill>
                <a:latin typeface="Aptos"/>
                <a:ea typeface="Microsoft YaHei"/>
                <a:cs typeface="Aptos"/>
              </a:rPr>
              <a:t>A practical agent feedback loop today; preference learning tomorrow.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