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a6dd21826b94bda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2d1243cf7ec24d42"/>
  </p:sldMasterIdLst>
  <p:sldIdLst>
    <p:sldId id="256" r:id="R8e57f00a43334a0b"/>
    <p:sldId id="257" r:id="Rf492fee836fe4495"/>
    <p:sldId id="258" r:id="R317c72f2ad9840b9"/>
    <p:sldId id="259" r:id="R4240ba4d974d4428"/>
  </p:sldIdLst>
  <p:sldSz cx="12191695" cy="6858000" type="screen16x9"/>
  <p:notesSz cx="7772400" cy="10058400"/>
  <p:defaultTextStyle>
    <a:lvl1pPr>
      <a:defRPr sz="1800"/>
    </a:lvl1pPr>
    <a:lvl2pPr>
      <a:defRPr sz="1800"/>
    </a:lvl2pPr>
    <a:lvl3pPr>
      <a:defRPr sz="1800"/>
    </a:lvl3pPr>
    <a:lvl4pPr>
      <a:defRPr sz="1800"/>
    </a:lvl4pPr>
    <a:lvl5pPr>
      <a:defRPr sz="1800"/>
    </a:lvl5pPr>
    <a:lvl6pPr>
      <a:defRPr sz="1800"/>
    </a:lvl6pPr>
    <a:lvl7pPr>
      <a:defRPr sz="1800"/>
    </a:lvl7pPr>
    <a:lvl8pPr>
      <a:defRPr sz="1800"/>
    </a:lvl8pPr>
    <a:lvl9pPr>
      <a:defRPr sz="1800"/>
    </a:lvl9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2d1243cf7ec24d42" /><Relationship Type="http://schemas.openxmlformats.org/officeDocument/2006/relationships/slide" Target="slides/slide1.xml" Id="R8e57f00a43334a0b" /><Relationship Type="http://schemas.openxmlformats.org/officeDocument/2006/relationships/slide" Target="slides/slide2.xml" Id="Rf492fee836fe4495" /><Relationship Type="http://schemas.openxmlformats.org/officeDocument/2006/relationships/slide" Target="slides/slide3.xml" Id="R317c72f2ad9840b9" /><Relationship Type="http://schemas.openxmlformats.org/officeDocument/2006/relationships/slide" Target="slides/slide4.xml" Id="R4240ba4d974d44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../theme/theme1.xml" Id="R7588d48cab0b4e39" 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43e9b116caf849bd" /><Relationship Type="http://schemas.openxmlformats.org/officeDocument/2006/relationships/slide" Target="../slides/slide1.xml" Id="R0663487e2f3349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46aea743866645d9" /><Relationship Type="http://schemas.openxmlformats.org/officeDocument/2006/relationships/slide" Target="../slides/slide2.xml" Id="Rfe97d3d7c5534e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0df4ff0402ca4ee5" /><Relationship Type="http://schemas.openxmlformats.org/officeDocument/2006/relationships/slide" Target="../slides/slide3.xml" Id="Rbe1275657eb04a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3f5eb3fc1475432e" /><Relationship Type="http://schemas.openxmlformats.org/officeDocument/2006/relationships/slide" Target="../slides/slide4.xml" Id="Re7146ab77ff64a42"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controlled comparison: only the template package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drawn from the same verified showcase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 packages are validated before they are advertised.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Deterministic gates come before learned aesthetic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7a6e6409c1ee492e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781a7a39a41f4295" /><Relationship Type="http://schemas.openxmlformats.org/officeDocument/2006/relationships/theme" Target="../theme/theme1.xml" Id="Rea945fa77ac94e2f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781a7a39a41f429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c1b026d0c06c4f4c" /><Relationship Type="http://schemas.openxmlformats.org/officeDocument/2006/relationships/notesSlide" Target="../notesSlides/notesSlide1.xml" Id="R385be591face4284" /><Relationship Type="http://schemas.openxmlformats.org/officeDocument/2006/relationships/image" Target="/ppt/media/image1.jpg" Id="Rec4d160aba004ad3" /><Relationship Type="http://schemas.openxmlformats.org/officeDocument/2006/relationships/image" Target="/ppt/media/logo-light.png" Id="Rc55537dd0108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8c58379ad33a42fc" /><Relationship Type="http://schemas.openxmlformats.org/officeDocument/2006/relationships/notesSlide" Target="../notesSlides/notesSlide2.xml" Id="Raca743f7289c4c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8e5d70c8fa244723" /><Relationship Type="http://schemas.openxmlformats.org/officeDocument/2006/relationships/notesSlide" Target="../notesSlides/notesSlide3.xml" Id="R20c22ce604b344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3160737efba6498e" /><Relationship Type="http://schemas.openxmlformats.org/officeDocument/2006/relationships/notesSlide" Target="../notesSlides/notesSlide4.xml" Id="R739f81fc457c4519" /><Relationship Type="http://schemas.openxmlformats.org/officeDocument/2006/relationships/image" Target="/ppt/media/logo-light.png" Id="Rfd7cb5f0e1ab4342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3" descr="One story.&#10;Three brand directions."/>
          <p:cNvPicPr/>
          <p:nvPr/>
        </p:nvPicPr>
        <p:blipFill>
          <a:blip r:embed="Rec4d160aba004a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Background 4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ackground 10"/>
          <p:cNvSpPr/>
          <p:nvPr/>
        </p:nvSpPr>
        <p:spPr>
          <a:xfrm>
            <a:off x="713232" y="1051560"/>
            <a:ext cx="91440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1" descr="DCC-MCP logo"/>
          <p:cNvPicPr/>
          <p:nvPr/>
        </p:nvPicPr>
        <p:blipFill>
          <a:blip r:embed="Rc55537dd01084103"/>
          <a:stretch>
            <a:fillRect/>
          </a:stretch>
        </p:blipFill>
        <p:spPr>
          <a:xfrm>
            <a:off x="914400" y="566928"/>
            <a:ext cx="731520" cy="41148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32688" y="1298448"/>
            <a:ext cx="4434840" cy="34747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200" b="1">
                <a:solidFill>
                  <a:srgbClr val="2563EB"/>
                </a:solidFill>
                <a:latin typeface="Aptos"/>
                <a:ea typeface="Microsoft YaHei"/>
                <a:cs typeface="Aptos"/>
              </a:rPr>
              <a:t>GOVERNED OFFICE AUTOMATION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1828800"/>
            <a:ext cx="4526280" cy="199339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50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One story.</a:t>
            </a:r>
          </a:p>
          <a:p algn="l">
            <a:r>
              <a:rPr lang="zh-CN" sz="50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Three brand directions.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2688" y="4041648"/>
            <a:ext cx="4315968" cy="10058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One semantic story, compiled through three project-owned visual systems.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2688" y="6108192"/>
            <a:ext cx="4389120" cy="3200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05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DCC-MCP Studio Office Brand Template Gallery  /  DCC-MCP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1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One runtime already carries eleven verified capabilities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Background 400"/>
          <p:cNvSpPr/>
          <p:nvPr/>
        </p:nvSpPr>
        <p:spPr>
          <a:xfrm>
            <a:off x="822960" y="1664208"/>
            <a:ext cx="91440" cy="15727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TextBox 401"/>
          <p:cNvSpPr txBox="1"/>
          <p:nvPr/>
        </p:nvSpPr>
        <p:spPr>
          <a:xfrm>
            <a:off x="109728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3</a:t>
            </a:r>
          </a:p>
        </p:txBody>
      </p:sp>
      <p:sp>
        <p:nvSpPr>
          <p:cNvPr id="402" name="TextBox 402"/>
          <p:cNvSpPr txBox="1"/>
          <p:nvPr/>
        </p:nvSpPr>
        <p:spPr>
          <a:xfrm>
            <a:off x="111556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desktop apps</a:t>
            </a:r>
          </a:p>
        </p:txBody>
      </p:sp>
      <p:sp>
        <p:nvSpPr>
          <p:cNvPr id="403" name="Background 403"/>
          <p:cNvSpPr/>
          <p:nvPr/>
        </p:nvSpPr>
        <p:spPr>
          <a:xfrm>
            <a:off x="4005072" y="1773936"/>
            <a:ext cx="13716" cy="1298448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Background 404"/>
          <p:cNvSpPr/>
          <p:nvPr/>
        </p:nvSpPr>
        <p:spPr>
          <a:xfrm>
            <a:off x="4343400" y="1664208"/>
            <a:ext cx="91440" cy="15727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TextBox 405"/>
          <p:cNvSpPr txBox="1"/>
          <p:nvPr/>
        </p:nvSpPr>
        <p:spPr>
          <a:xfrm>
            <a:off x="461772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11</a:t>
            </a:r>
          </a:p>
        </p:txBody>
      </p:sp>
      <p:sp>
        <p:nvSpPr>
          <p:cNvPr id="406" name="TextBox 406"/>
          <p:cNvSpPr txBox="1"/>
          <p:nvPr/>
        </p:nvSpPr>
        <p:spPr>
          <a:xfrm>
            <a:off x="463600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live task capabilities</a:t>
            </a:r>
          </a:p>
        </p:txBody>
      </p:sp>
      <p:sp>
        <p:nvSpPr>
          <p:cNvPr id="407" name="Background 407"/>
          <p:cNvSpPr/>
          <p:nvPr/>
        </p:nvSpPr>
        <p:spPr>
          <a:xfrm>
            <a:off x="7525512" y="1773936"/>
            <a:ext cx="13716" cy="1298448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Background 408"/>
          <p:cNvSpPr/>
          <p:nvPr/>
        </p:nvSpPr>
        <p:spPr>
          <a:xfrm>
            <a:off x="7863840" y="1664208"/>
            <a:ext cx="91440" cy="15727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TextBox 409"/>
          <p:cNvSpPr txBox="1"/>
          <p:nvPr/>
        </p:nvSpPr>
        <p:spPr>
          <a:xfrm>
            <a:off x="8138160" y="164592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3</a:t>
            </a:r>
          </a:p>
        </p:txBody>
      </p:sp>
      <p:sp>
        <p:nvSpPr>
          <p:cNvPr id="410" name="TextBox 410"/>
          <p:cNvSpPr txBox="1"/>
          <p:nvPr/>
        </p:nvSpPr>
        <p:spPr>
          <a:xfrm>
            <a:off x="8156448" y="252374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brand packages</a:t>
            </a:r>
          </a:p>
        </p:txBody>
      </p:sp>
      <p:sp>
        <p:nvSpPr>
          <p:cNvPr id="412" name="Background 412"/>
          <p:cNvSpPr/>
          <p:nvPr/>
        </p:nvSpPr>
        <p:spPr>
          <a:xfrm>
            <a:off x="822960" y="3767328"/>
            <a:ext cx="91440" cy="15727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TextBox 413"/>
          <p:cNvSpPr txBox="1"/>
          <p:nvPr/>
        </p:nvSpPr>
        <p:spPr>
          <a:xfrm>
            <a:off x="109728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7</a:t>
            </a:r>
          </a:p>
        </p:txBody>
      </p:sp>
      <p:sp>
        <p:nvSpPr>
          <p:cNvPr id="414" name="TextBox 414"/>
          <p:cNvSpPr txBox="1"/>
          <p:nvPr/>
        </p:nvSpPr>
        <p:spPr>
          <a:xfrm>
            <a:off x="111556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semantic layouts exercised</a:t>
            </a:r>
          </a:p>
        </p:txBody>
      </p:sp>
      <p:sp>
        <p:nvSpPr>
          <p:cNvPr id="415" name="Background 415"/>
          <p:cNvSpPr/>
          <p:nvPr/>
        </p:nvSpPr>
        <p:spPr>
          <a:xfrm>
            <a:off x="4005072" y="3877056"/>
            <a:ext cx="13716" cy="1298448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Background 416"/>
          <p:cNvSpPr/>
          <p:nvPr/>
        </p:nvSpPr>
        <p:spPr>
          <a:xfrm>
            <a:off x="4343400" y="3767328"/>
            <a:ext cx="91440" cy="15727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TextBox 417"/>
          <p:cNvSpPr txBox="1"/>
          <p:nvPr/>
        </p:nvSpPr>
        <p:spPr>
          <a:xfrm>
            <a:off x="461772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0</a:t>
            </a:r>
          </a:p>
        </p:txBody>
      </p:sp>
      <p:sp>
        <p:nvSpPr>
          <p:cNvPr id="418" name="TextBox 418"/>
          <p:cNvSpPr txBox="1"/>
          <p:nvPr/>
        </p:nvSpPr>
        <p:spPr>
          <a:xfrm>
            <a:off x="463600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tolerated overflow</a:t>
            </a:r>
          </a:p>
        </p:txBody>
      </p:sp>
      <p:sp>
        <p:nvSpPr>
          <p:cNvPr id="419" name="Background 419"/>
          <p:cNvSpPr/>
          <p:nvPr/>
        </p:nvSpPr>
        <p:spPr>
          <a:xfrm>
            <a:off x="7525512" y="3877056"/>
            <a:ext cx="13716" cy="1298448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Background 420"/>
          <p:cNvSpPr/>
          <p:nvPr/>
        </p:nvSpPr>
        <p:spPr>
          <a:xfrm>
            <a:off x="7863840" y="3767328"/>
            <a:ext cx="91440" cy="15727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TextBox 421"/>
          <p:cNvSpPr txBox="1"/>
          <p:nvPr/>
        </p:nvSpPr>
        <p:spPr>
          <a:xfrm>
            <a:off x="8138160" y="3749040"/>
            <a:ext cx="2651760" cy="84124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6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1</a:t>
            </a:r>
          </a:p>
        </p:txBody>
      </p:sp>
      <p:sp>
        <p:nvSpPr>
          <p:cNvPr id="422" name="TextBox 422"/>
          <p:cNvSpPr txBox="1"/>
          <p:nvPr/>
        </p:nvSpPr>
        <p:spPr>
          <a:xfrm>
            <a:off x="8156448" y="4626864"/>
            <a:ext cx="2697480" cy="64008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versioned protocol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6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Brand choice changes expression, not the contract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DCE5F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Background 240"/>
          <p:cNvSpPr/>
          <p:nvPr/>
        </p:nvSpPr>
        <p:spPr>
          <a:xfrm>
            <a:off x="822960" y="1664208"/>
            <a:ext cx="5120640" cy="437083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TextBox 241"/>
          <p:cNvSpPr txBox="1"/>
          <p:nvPr/>
        </p:nvSpPr>
        <p:spPr>
          <a:xfrm>
            <a:off x="1170432" y="1874520"/>
            <a:ext cx="868680" cy="56692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2563EB"/>
                </a:solidFill>
                <a:latin typeface="Aptos Display"/>
                <a:ea typeface="Microsoft YaHei"/>
                <a:cs typeface="Aptos Display"/>
              </a:rPr>
              <a:t>01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2066544" y="1901952"/>
            <a:ext cx="3474720" cy="5303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4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Stable contract</a:t>
            </a:r>
          </a:p>
        </p:txBody>
      </p:sp>
      <p:sp>
        <p:nvSpPr>
          <p:cNvPr id="245" name="Oval 245"/>
          <p:cNvSpPr/>
          <p:nvPr/>
        </p:nvSpPr>
        <p:spPr>
          <a:xfrm>
            <a:off x="1207008" y="2944368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TextBox 246"/>
          <p:cNvSpPr txBox="1"/>
          <p:nvPr/>
        </p:nvSpPr>
        <p:spPr>
          <a:xfrm>
            <a:off x="1517904" y="278892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Presentation IR stays unchanged</a:t>
            </a:r>
          </a:p>
        </p:txBody>
      </p:sp>
      <p:sp>
        <p:nvSpPr>
          <p:cNvPr id="247" name="Oval 247"/>
          <p:cNvSpPr/>
          <p:nvPr/>
        </p:nvSpPr>
        <p:spPr>
          <a:xfrm>
            <a:off x="1207008" y="3767328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TextBox 248"/>
          <p:cNvSpPr txBox="1"/>
          <p:nvPr/>
        </p:nvSpPr>
        <p:spPr>
          <a:xfrm>
            <a:off x="1517904" y="361188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Layouts remain semantic</a:t>
            </a:r>
          </a:p>
        </p:txBody>
      </p:sp>
      <p:sp>
        <p:nvSpPr>
          <p:cNvPr id="249" name="Oval 249"/>
          <p:cNvSpPr/>
          <p:nvPr/>
        </p:nvSpPr>
        <p:spPr>
          <a:xfrm>
            <a:off x="1207008" y="4590288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TextBox 250"/>
          <p:cNvSpPr txBox="1"/>
          <p:nvPr/>
        </p:nvSpPr>
        <p:spPr>
          <a:xfrm>
            <a:off x="1517904" y="443484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Outputs stay fully editable</a:t>
            </a:r>
          </a:p>
        </p:txBody>
      </p:sp>
      <p:sp>
        <p:nvSpPr>
          <p:cNvPr id="260" name="Background 260"/>
          <p:cNvSpPr/>
          <p:nvPr/>
        </p:nvSpPr>
        <p:spPr>
          <a:xfrm>
            <a:off x="6309360" y="1664208"/>
            <a:ext cx="512064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TextBox 261"/>
          <p:cNvSpPr txBox="1"/>
          <p:nvPr/>
        </p:nvSpPr>
        <p:spPr>
          <a:xfrm>
            <a:off x="6656832" y="1874520"/>
            <a:ext cx="868680" cy="566928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0D9488"/>
                </a:solidFill>
                <a:latin typeface="Aptos Display"/>
                <a:ea typeface="Microsoft YaHei"/>
                <a:cs typeface="Aptos Display"/>
              </a:rPr>
              <a:t>02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7552944" y="1901952"/>
            <a:ext cx="3474720" cy="5303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4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Brand variation</a:t>
            </a:r>
          </a:p>
        </p:txBody>
      </p:sp>
      <p:sp>
        <p:nvSpPr>
          <p:cNvPr id="265" name="Oval 265"/>
          <p:cNvSpPr/>
          <p:nvPr/>
        </p:nvSpPr>
        <p:spPr>
          <a:xfrm>
            <a:off x="6693408" y="2944368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TextBox 266"/>
          <p:cNvSpPr txBox="1"/>
          <p:nvPr/>
        </p:nvSpPr>
        <p:spPr>
          <a:xfrm>
            <a:off x="7004304" y="278892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Colors and type are package-owned</a:t>
            </a:r>
          </a:p>
        </p:txBody>
      </p:sp>
      <p:sp>
        <p:nvSpPr>
          <p:cNvPr id="267" name="Oval 267"/>
          <p:cNvSpPr/>
          <p:nvPr/>
        </p:nvSpPr>
        <p:spPr>
          <a:xfrm>
            <a:off x="6693408" y="3767328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TextBox 268"/>
          <p:cNvSpPr txBox="1"/>
          <p:nvPr/>
        </p:nvSpPr>
        <p:spPr>
          <a:xfrm>
            <a:off x="7004304" y="361188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Registry versions every choice</a:t>
            </a:r>
          </a:p>
        </p:txBody>
      </p:sp>
      <p:sp>
        <p:nvSpPr>
          <p:cNvPr id="269" name="Oval 269"/>
          <p:cNvSpPr/>
          <p:nvPr/>
        </p:nvSpPr>
        <p:spPr>
          <a:xfrm>
            <a:off x="6693408" y="4590288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TextBox 270"/>
          <p:cNvSpPr txBox="1"/>
          <p:nvPr/>
        </p:nvSpPr>
        <p:spPr>
          <a:xfrm>
            <a:off x="7004304" y="4434840"/>
            <a:ext cx="3977640" cy="6858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700">
                <a:solidFill>
                  <a:srgbClr val="172033"/>
                </a:solidFill>
                <a:latin typeface="Aptos"/>
                <a:ea typeface="Microsoft YaHei"/>
                <a:cs typeface="Aptos"/>
              </a:rPr>
              <a:t>PowerPoint verifies the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DCE5F2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4" descr="DCC-MCP logo"/>
          <p:cNvPicPr/>
          <p:nvPr/>
        </p:nvPicPr>
        <p:blipFill>
          <a:blip r:embed="Rfd7cb5f0e1ab4342"/>
          <a:stretch>
            <a:fillRect/>
          </a:stretch>
        </p:blipFill>
        <p:spPr>
          <a:xfrm>
            <a:off x="10104120" y="530352"/>
            <a:ext cx="1024128" cy="576072"/>
          </a:xfrm>
          <a:prstGeom prst="rect">
            <a:avLst/>
          </a:prstGeom>
        </p:spPr>
      </p:pic>
      <p:sp>
        <p:nvSpPr>
          <p:cNvPr id="10" name="Background 10"/>
          <p:cNvSpPr/>
          <p:nvPr/>
        </p:nvSpPr>
        <p:spPr>
          <a:xfrm>
            <a:off x="777240" y="1325880"/>
            <a:ext cx="109728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143000" y="2331720"/>
            <a:ext cx="9829800" cy="13716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52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Generate. Render. Score.</a:t>
            </a:r>
          </a:p>
          <a:p algn="l">
            <a:r>
              <a:rPr lang="zh-CN" sz="5200" b="1">
                <a:solidFill>
                  <a:srgbClr val="172033"/>
                </a:solidFill>
                <a:latin typeface="Aptos Display"/>
                <a:ea typeface="Microsoft YaHei"/>
                <a:cs typeface="Aptos Display"/>
              </a:rPr>
              <a:t>Then refine.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0432" y="4005072"/>
            <a:ext cx="804672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900">
                <a:solidFill>
                  <a:srgbClr val="5D6B82"/>
                </a:solidFill>
                <a:latin typeface="Aptos"/>
                <a:ea typeface="Microsoft YaHei"/>
                <a:cs typeface="Aptos"/>
              </a:rPr>
              <a:t>A practical agent feedback loop today; preference learning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